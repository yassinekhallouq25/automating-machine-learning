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image" Target="../media/image-2-13.png"/><Relationship Id="rId14" Type="http://schemas.openxmlformats.org/officeDocument/2006/relationships/image" Target="../media/image-2-14.png"/><Relationship Id="rId15" Type="http://schemas.openxmlformats.org/officeDocument/2006/relationships/image" Target="../media/image-2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image" Target="../media/image-4-15.png"/><Relationship Id="rId16" Type="http://schemas.openxmlformats.org/officeDocument/2006/relationships/image" Target="../media/image-4-16.png"/><Relationship Id="rId17" Type="http://schemas.openxmlformats.org/officeDocument/2006/relationships/image" Target="../media/image-4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2872" y="-1371600"/>
            <a:ext cx="4114800" cy="4114800"/>
          </a:xfrm>
          <a:prstGeom prst="ellipse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43032" y="-457200"/>
            <a:ext cx="2286000" cy="2286000"/>
          </a:xfrm>
          <a:prstGeom prst="ellipse">
            <a:avLst/>
          </a:prstGeom>
          <a:solidFill>
            <a:srgbClr val="5EEAD4">
              <a:alpha val="15000"/>
            </a:srgbClr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5029200"/>
            <a:ext cx="3657600" cy="3657600"/>
          </a:xfrm>
          <a:prstGeom prst="ellipse">
            <a:avLst/>
          </a:prstGeom>
          <a:solidFill>
            <a:srgbClr val="115E59">
              <a:alpha val="30000"/>
            </a:srgbClr>
          </a:solidFill>
          <a:ln w="12700">
            <a:solidFill>
              <a:srgbClr val="115E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2801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DEEPCHECKS  ·  TABULAR CHECKS GALLERY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10058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Vérifier la qualité</a:t>
            </a:r>
            <a:endParaRPr lang="en-US" sz="5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vos données ML</a:t>
            </a:r>
            <a:endParaRPr lang="en-US" sz="5600" dirty="0"/>
          </a:p>
        </p:txBody>
      </p:sp>
      <p:sp>
        <p:nvSpPr>
          <p:cNvPr id="7" name="Shape 5"/>
          <p:cNvSpPr/>
          <p:nvPr/>
        </p:nvSpPr>
        <p:spPr>
          <a:xfrm>
            <a:off x="731520" y="4160520"/>
            <a:ext cx="73152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3891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vue d'ensemble des contrôles automatisés pour la qualité des données, la validation train/test et l'évaluation de modèles.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597103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5806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6099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checks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749040" y="5971032"/>
            <a:ext cx="201168" cy="201168"/>
          </a:xfrm>
          <a:prstGeom prst="ellipse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69080" y="5806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Test Validation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69080" y="6099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checks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597103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5806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Evaluation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86600" y="60990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checks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documentation officielle Deepchecks — Tabular Checks Gallery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3152" cy="8686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01  ·  CATÉGORIE 1 /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Integrity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Qualité interne d'un seul jeu de données — valeurs, types, structure et cohérence.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177272" y="59436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77272" y="640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177272" y="1097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543153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1791653"/>
            <a:ext cx="502920" cy="50292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" y="1905953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17320" y="1920240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Nulls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417320" y="2176272"/>
            <a:ext cx="4425696" cy="44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 plusieurs formes de valeurs manquantes.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08776" y="1828800"/>
            <a:ext cx="543153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73368" y="1791653"/>
            <a:ext cx="502920" cy="50292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668" y="1905953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077456" y="1920240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 Of Nulls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077456" y="2176272"/>
            <a:ext cx="4425696" cy="44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les colonnes trop vides.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48640" y="2394585"/>
            <a:ext cx="543153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13232" y="2357438"/>
            <a:ext cx="502920" cy="50292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" y="2471738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17320" y="2486025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Mismatch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417320" y="2742057"/>
            <a:ext cx="4425696" cy="44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 les catégories écrites différemment.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208776" y="2394585"/>
            <a:ext cx="543153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373368" y="2357438"/>
            <a:ext cx="502920" cy="50292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668" y="2471738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077456" y="2486025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Length Out Of Bounds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7077456" y="2742057"/>
            <a:ext cx="4425696" cy="44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Repère les textes anormalement longs ou courts.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48640" y="2960370"/>
            <a:ext cx="543153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13232" y="2923223"/>
            <a:ext cx="502920" cy="50292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" y="3037523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417320" y="3051810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Label Correlation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1417320" y="3307842"/>
            <a:ext cx="4425696" cy="44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 une variable trop liée à la cible.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6208776" y="2960370"/>
            <a:ext cx="543153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373368" y="2923223"/>
            <a:ext cx="502920" cy="50292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7668" y="3037523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077456" y="3051810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Feature Correlation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7077456" y="3307842"/>
            <a:ext cx="4425696" cy="44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Repère les variables redondantes entre elles.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548640" y="3526155"/>
            <a:ext cx="543153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713232" y="3489008"/>
            <a:ext cx="502920" cy="50292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" y="3603308"/>
            <a:ext cx="274320" cy="27432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1417320" y="3617595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Single Value</a:t>
            </a:r>
            <a:endParaRPr lang="en-US" sz="1200" dirty="0"/>
          </a:p>
        </p:txBody>
      </p:sp>
      <p:sp>
        <p:nvSpPr>
          <p:cNvPr id="43" name="Text 34"/>
          <p:cNvSpPr/>
          <p:nvPr/>
        </p:nvSpPr>
        <p:spPr>
          <a:xfrm>
            <a:off x="1417320" y="3873627"/>
            <a:ext cx="4425696" cy="44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 les colonnes constantes.</a:t>
            </a:r>
            <a:endParaRPr lang="en-US" sz="1000" dirty="0"/>
          </a:p>
        </p:txBody>
      </p:sp>
      <p:sp>
        <p:nvSpPr>
          <p:cNvPr id="44" name="Shape 35"/>
          <p:cNvSpPr/>
          <p:nvPr/>
        </p:nvSpPr>
        <p:spPr>
          <a:xfrm>
            <a:off x="6208776" y="3526155"/>
            <a:ext cx="543153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6373368" y="3489008"/>
            <a:ext cx="502920" cy="50292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7668" y="3603308"/>
            <a:ext cx="274320" cy="27432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7077456" y="3617595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 Info</a:t>
            </a:r>
            <a:endParaRPr lang="en-US" sz="1200" dirty="0"/>
          </a:p>
        </p:txBody>
      </p:sp>
      <p:sp>
        <p:nvSpPr>
          <p:cNvPr id="48" name="Text 38"/>
          <p:cNvSpPr/>
          <p:nvPr/>
        </p:nvSpPr>
        <p:spPr>
          <a:xfrm>
            <a:off x="7077456" y="3873627"/>
            <a:ext cx="4425696" cy="44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Résume types, valeurs et statistiques clés.</a:t>
            </a:r>
            <a:endParaRPr lang="en-US" sz="1000" dirty="0"/>
          </a:p>
        </p:txBody>
      </p:sp>
      <p:sp>
        <p:nvSpPr>
          <p:cNvPr id="49" name="Shape 39"/>
          <p:cNvSpPr/>
          <p:nvPr/>
        </p:nvSpPr>
        <p:spPr>
          <a:xfrm>
            <a:off x="548640" y="4091940"/>
            <a:ext cx="543153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50" name="Shape 40"/>
          <p:cNvSpPr/>
          <p:nvPr/>
        </p:nvSpPr>
        <p:spPr>
          <a:xfrm>
            <a:off x="713232" y="4054792"/>
            <a:ext cx="502920" cy="50292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532" y="4169092"/>
            <a:ext cx="274320" cy="274320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1417320" y="4183380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200" dirty="0"/>
          </a:p>
        </p:txBody>
      </p:sp>
      <p:sp>
        <p:nvSpPr>
          <p:cNvPr id="53" name="Text 42"/>
          <p:cNvSpPr/>
          <p:nvPr/>
        </p:nvSpPr>
        <p:spPr>
          <a:xfrm>
            <a:off x="1417320" y="4439412"/>
            <a:ext cx="4425696" cy="44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 une cible déséquilibrée.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6208776" y="4091940"/>
            <a:ext cx="543153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55" name="Shape 44"/>
          <p:cNvSpPr/>
          <p:nvPr/>
        </p:nvSpPr>
        <p:spPr>
          <a:xfrm>
            <a:off x="6373368" y="4054792"/>
            <a:ext cx="502920" cy="50292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7668" y="4169092"/>
            <a:ext cx="274320" cy="274320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7077456" y="4183380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Sample Detection</a:t>
            </a:r>
            <a:endParaRPr lang="en-US" sz="1200" dirty="0"/>
          </a:p>
        </p:txBody>
      </p:sp>
      <p:sp>
        <p:nvSpPr>
          <p:cNvPr id="58" name="Text 46"/>
          <p:cNvSpPr/>
          <p:nvPr/>
        </p:nvSpPr>
        <p:spPr>
          <a:xfrm>
            <a:off x="7077456" y="4439412"/>
            <a:ext cx="4425696" cy="44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Repère les lignes atypiques.</a:t>
            </a:r>
            <a:endParaRPr lang="en-US" sz="1000" dirty="0"/>
          </a:p>
        </p:txBody>
      </p:sp>
      <p:sp>
        <p:nvSpPr>
          <p:cNvPr id="59" name="Shape 47"/>
          <p:cNvSpPr/>
          <p:nvPr/>
        </p:nvSpPr>
        <p:spPr>
          <a:xfrm>
            <a:off x="548640" y="4657725"/>
            <a:ext cx="543153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60" name="Shape 48"/>
          <p:cNvSpPr/>
          <p:nvPr/>
        </p:nvSpPr>
        <p:spPr>
          <a:xfrm>
            <a:off x="713232" y="4620578"/>
            <a:ext cx="502920" cy="50292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7532" y="4734878"/>
            <a:ext cx="274320" cy="274320"/>
          </a:xfrm>
          <a:prstGeom prst="rect">
            <a:avLst/>
          </a:prstGeom>
        </p:spPr>
      </p:pic>
      <p:sp>
        <p:nvSpPr>
          <p:cNvPr id="62" name="Text 49"/>
          <p:cNvSpPr/>
          <p:nvPr/>
        </p:nvSpPr>
        <p:spPr>
          <a:xfrm>
            <a:off x="1417320" y="4749165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Label Correlation</a:t>
            </a:r>
            <a:endParaRPr lang="en-US" sz="1200" dirty="0"/>
          </a:p>
        </p:txBody>
      </p:sp>
      <p:sp>
        <p:nvSpPr>
          <p:cNvPr id="63" name="Text 50"/>
          <p:cNvSpPr/>
          <p:nvPr/>
        </p:nvSpPr>
        <p:spPr>
          <a:xfrm>
            <a:off x="1417320" y="5005197"/>
            <a:ext cx="4425696" cy="44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 un identifiant qui fuit la cible.</a:t>
            </a:r>
            <a:endParaRPr lang="en-US" sz="1000" dirty="0"/>
          </a:p>
        </p:txBody>
      </p:sp>
      <p:sp>
        <p:nvSpPr>
          <p:cNvPr id="64" name="Shape 51"/>
          <p:cNvSpPr/>
          <p:nvPr/>
        </p:nvSpPr>
        <p:spPr>
          <a:xfrm>
            <a:off x="6208776" y="4657725"/>
            <a:ext cx="543153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65" name="Shape 52"/>
          <p:cNvSpPr/>
          <p:nvPr/>
        </p:nvSpPr>
        <p:spPr>
          <a:xfrm>
            <a:off x="6373368" y="4620578"/>
            <a:ext cx="502920" cy="50292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87668" y="4734878"/>
            <a:ext cx="274320" cy="274320"/>
          </a:xfrm>
          <a:prstGeom prst="rect">
            <a:avLst/>
          </a:prstGeom>
        </p:spPr>
      </p:pic>
      <p:sp>
        <p:nvSpPr>
          <p:cNvPr id="67" name="Text 53"/>
          <p:cNvSpPr/>
          <p:nvPr/>
        </p:nvSpPr>
        <p:spPr>
          <a:xfrm>
            <a:off x="7077456" y="4749165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Labels</a:t>
            </a:r>
            <a:endParaRPr lang="en-US" sz="1200" dirty="0"/>
          </a:p>
        </p:txBody>
      </p:sp>
      <p:sp>
        <p:nvSpPr>
          <p:cNvPr id="68" name="Text 54"/>
          <p:cNvSpPr/>
          <p:nvPr/>
        </p:nvSpPr>
        <p:spPr>
          <a:xfrm>
            <a:off x="7077456" y="5005197"/>
            <a:ext cx="4425696" cy="44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 les mêmes exemples avec labels différents.</a:t>
            </a:r>
            <a:endParaRPr lang="en-US" sz="1000" dirty="0"/>
          </a:p>
        </p:txBody>
      </p:sp>
      <p:sp>
        <p:nvSpPr>
          <p:cNvPr id="69" name="Shape 55"/>
          <p:cNvSpPr/>
          <p:nvPr/>
        </p:nvSpPr>
        <p:spPr>
          <a:xfrm>
            <a:off x="548640" y="5223510"/>
            <a:ext cx="543153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70" name="Shape 56"/>
          <p:cNvSpPr/>
          <p:nvPr/>
        </p:nvSpPr>
        <p:spPr>
          <a:xfrm>
            <a:off x="713232" y="5186363"/>
            <a:ext cx="502920" cy="50292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7532" y="5300663"/>
            <a:ext cx="274320" cy="274320"/>
          </a:xfrm>
          <a:prstGeom prst="rect">
            <a:avLst/>
          </a:prstGeom>
        </p:spPr>
      </p:pic>
      <p:sp>
        <p:nvSpPr>
          <p:cNvPr id="72" name="Text 57"/>
          <p:cNvSpPr/>
          <p:nvPr/>
        </p:nvSpPr>
        <p:spPr>
          <a:xfrm>
            <a:off x="1417320" y="5314950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Duplicates</a:t>
            </a:r>
            <a:endParaRPr lang="en-US" sz="1200" dirty="0"/>
          </a:p>
        </p:txBody>
      </p:sp>
      <p:sp>
        <p:nvSpPr>
          <p:cNvPr id="73" name="Text 58"/>
          <p:cNvSpPr/>
          <p:nvPr/>
        </p:nvSpPr>
        <p:spPr>
          <a:xfrm>
            <a:off x="1417320" y="5570982"/>
            <a:ext cx="4425696" cy="44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Repère les lignes dupliquées.</a:t>
            </a:r>
            <a:endParaRPr lang="en-US" sz="1000" dirty="0"/>
          </a:p>
        </p:txBody>
      </p:sp>
      <p:sp>
        <p:nvSpPr>
          <p:cNvPr id="74" name="Shape 59"/>
          <p:cNvSpPr/>
          <p:nvPr/>
        </p:nvSpPr>
        <p:spPr>
          <a:xfrm>
            <a:off x="6208776" y="5223510"/>
            <a:ext cx="543153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75" name="Shape 60"/>
          <p:cNvSpPr/>
          <p:nvPr/>
        </p:nvSpPr>
        <p:spPr>
          <a:xfrm>
            <a:off x="6373368" y="5186363"/>
            <a:ext cx="502920" cy="50292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7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87668" y="5300663"/>
            <a:ext cx="274320" cy="274320"/>
          </a:xfrm>
          <a:prstGeom prst="rect">
            <a:avLst/>
          </a:prstGeom>
        </p:spPr>
      </p:pic>
      <p:sp>
        <p:nvSpPr>
          <p:cNvPr id="77" name="Text 61"/>
          <p:cNvSpPr/>
          <p:nvPr/>
        </p:nvSpPr>
        <p:spPr>
          <a:xfrm>
            <a:off x="7077456" y="5314950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Characters</a:t>
            </a:r>
            <a:endParaRPr lang="en-US" sz="1200" dirty="0"/>
          </a:p>
        </p:txBody>
      </p:sp>
      <p:sp>
        <p:nvSpPr>
          <p:cNvPr id="78" name="Text 62"/>
          <p:cNvSpPr/>
          <p:nvPr/>
        </p:nvSpPr>
        <p:spPr>
          <a:xfrm>
            <a:off x="7077456" y="5570982"/>
            <a:ext cx="4425696" cy="44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 les caractères inhabituels.</a:t>
            </a:r>
            <a:endParaRPr lang="en-US" sz="1000" dirty="0"/>
          </a:p>
        </p:txBody>
      </p:sp>
      <p:sp>
        <p:nvSpPr>
          <p:cNvPr id="79" name="Shape 63"/>
          <p:cNvSpPr/>
          <p:nvPr/>
        </p:nvSpPr>
        <p:spPr>
          <a:xfrm>
            <a:off x="548640" y="5789295"/>
            <a:ext cx="543153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80" name="Shape 64"/>
          <p:cNvSpPr/>
          <p:nvPr/>
        </p:nvSpPr>
        <p:spPr>
          <a:xfrm>
            <a:off x="713232" y="5752147"/>
            <a:ext cx="502920" cy="502920"/>
          </a:xfrm>
          <a:prstGeom prst="ellipse">
            <a:avLst/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8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7532" y="5866447"/>
            <a:ext cx="274320" cy="274320"/>
          </a:xfrm>
          <a:prstGeom prst="rect">
            <a:avLst/>
          </a:prstGeom>
        </p:spPr>
      </p:pic>
      <p:sp>
        <p:nvSpPr>
          <p:cNvPr id="82" name="Text 65"/>
          <p:cNvSpPr/>
          <p:nvPr/>
        </p:nvSpPr>
        <p:spPr>
          <a:xfrm>
            <a:off x="1417320" y="5880735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Data Types</a:t>
            </a:r>
            <a:endParaRPr lang="en-US" sz="1200" dirty="0"/>
          </a:p>
        </p:txBody>
      </p:sp>
      <p:sp>
        <p:nvSpPr>
          <p:cNvPr id="83" name="Text 66"/>
          <p:cNvSpPr/>
          <p:nvPr/>
        </p:nvSpPr>
        <p:spPr>
          <a:xfrm>
            <a:off x="1417320" y="6136767"/>
            <a:ext cx="4425696" cy="445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 des types mélangés dans une colonne.</a:t>
            </a:r>
            <a:endParaRPr lang="en-US" sz="1000" dirty="0"/>
          </a:p>
        </p:txBody>
      </p:sp>
      <p:sp>
        <p:nvSpPr>
          <p:cNvPr id="84" name="Text 67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documentation officielle Deepchecks — Tabular Checks Gallery</a:t>
            </a:r>
            <a:endParaRPr lang="en-US" sz="800" dirty="0"/>
          </a:p>
        </p:txBody>
      </p:sp>
      <p:sp>
        <p:nvSpPr>
          <p:cNvPr id="85" name="Text 68"/>
          <p:cNvSpPr/>
          <p:nvPr/>
        </p:nvSpPr>
        <p:spPr>
          <a:xfrm>
            <a:off x="6702552" y="64922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  ·   Train Test Validation   ·   Model Evaluation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3152" cy="868680"/>
          </a:xfrm>
          <a:prstGeom prst="rect">
            <a:avLst/>
          </a:prstGeom>
          <a:solidFill>
            <a:srgbClr val="115E59"/>
          </a:solidFill>
          <a:ln w="12700">
            <a:solidFill>
              <a:srgbClr val="115E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02  ·  CATÉGORIE 2 /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Test Validation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Comparaison entre jeux d'entraînement et de test — détection de fuites et de drift.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177272" y="59436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77272" y="640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15E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177272" y="1097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5431536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1885950"/>
            <a:ext cx="502920" cy="502920"/>
          </a:xfrm>
          <a:prstGeom prst="ellipse">
            <a:avLst/>
          </a:prstGeom>
          <a:solidFill>
            <a:srgbClr val="115E59">
              <a:alpha val="12000"/>
            </a:srgbClr>
          </a:solidFill>
          <a:ln w="12700">
            <a:solidFill>
              <a:srgbClr val="115E59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" y="200025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17320" y="1920240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Mismatch Comparison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417320" y="2176272"/>
            <a:ext cx="44256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les catégories texte train vs test.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208776" y="1828800"/>
            <a:ext cx="5431536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373368" y="1885950"/>
            <a:ext cx="502920" cy="502920"/>
          </a:xfrm>
          <a:prstGeom prst="ellipse">
            <a:avLst/>
          </a:prstGeom>
          <a:solidFill>
            <a:srgbClr val="115E59">
              <a:alpha val="12000"/>
            </a:srgbClr>
          </a:solidFill>
          <a:ln w="12700">
            <a:solidFill>
              <a:srgbClr val="115E59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668" y="200025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077456" y="1920240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Test Samples Mix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077456" y="2176272"/>
            <a:ext cx="44256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 des exemples présents dans les deux jeux.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48640" y="2583180"/>
            <a:ext cx="5431536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13232" y="2640330"/>
            <a:ext cx="502920" cy="502920"/>
          </a:xfrm>
          <a:prstGeom prst="ellipse">
            <a:avLst/>
          </a:prstGeom>
          <a:solidFill>
            <a:srgbClr val="115E59">
              <a:alpha val="12000"/>
            </a:srgbClr>
          </a:solidFill>
          <a:ln w="12700">
            <a:solidFill>
              <a:srgbClr val="115E59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" y="275463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417320" y="2674620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Label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1417320" y="2930652"/>
            <a:ext cx="44256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 des labels nouveaux dans le test.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208776" y="2583180"/>
            <a:ext cx="5431536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373368" y="2640330"/>
            <a:ext cx="502920" cy="502920"/>
          </a:xfrm>
          <a:prstGeom prst="ellipse">
            <a:avLst/>
          </a:prstGeom>
          <a:solidFill>
            <a:srgbClr val="115E59">
              <a:alpha val="12000"/>
            </a:srgbClr>
          </a:solidFill>
          <a:ln w="12700">
            <a:solidFill>
              <a:srgbClr val="115E59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7668" y="2754630"/>
            <a:ext cx="274320" cy="2743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077456" y="2674620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Size Comparison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7077456" y="2930652"/>
            <a:ext cx="44256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l'écart de taille train/test.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548640" y="3337560"/>
            <a:ext cx="5431536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713232" y="3394710"/>
            <a:ext cx="502920" cy="502920"/>
          </a:xfrm>
          <a:prstGeom prst="ellipse">
            <a:avLst/>
          </a:prstGeom>
          <a:solidFill>
            <a:srgbClr val="115E59">
              <a:alpha val="12000"/>
            </a:srgbClr>
          </a:solidFill>
          <a:ln w="12700">
            <a:solidFill>
              <a:srgbClr val="115E59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" y="3509010"/>
            <a:ext cx="274320" cy="27432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1417320" y="3429000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Category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1417320" y="3685032"/>
            <a:ext cx="44256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Trouve des catégories test absentes du train.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6208776" y="3337560"/>
            <a:ext cx="5431536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373368" y="3394710"/>
            <a:ext cx="502920" cy="502920"/>
          </a:xfrm>
          <a:prstGeom prst="ellipse">
            <a:avLst/>
          </a:prstGeom>
          <a:solidFill>
            <a:srgbClr val="115E59">
              <a:alpha val="12000"/>
            </a:srgbClr>
          </a:solidFill>
          <a:ln w="12700">
            <a:solidFill>
              <a:srgbClr val="115E59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7668" y="3509010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7077456" y="3429000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Leakage</a:t>
            </a:r>
            <a:endParaRPr lang="en-US" sz="1200" dirty="0"/>
          </a:p>
        </p:txBody>
      </p:sp>
      <p:sp>
        <p:nvSpPr>
          <p:cNvPr id="38" name="Text 30"/>
          <p:cNvSpPr/>
          <p:nvPr/>
        </p:nvSpPr>
        <p:spPr>
          <a:xfrm>
            <a:off x="7077456" y="3685032"/>
            <a:ext cx="44256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 une fuite via l'index.</a:t>
            </a:r>
            <a:endParaRPr lang="en-US" sz="1000" dirty="0"/>
          </a:p>
        </p:txBody>
      </p:sp>
      <p:sp>
        <p:nvSpPr>
          <p:cNvPr id="39" name="Shape 31"/>
          <p:cNvSpPr/>
          <p:nvPr/>
        </p:nvSpPr>
        <p:spPr>
          <a:xfrm>
            <a:off x="548640" y="4091940"/>
            <a:ext cx="5431536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713232" y="4149090"/>
            <a:ext cx="502920" cy="502920"/>
          </a:xfrm>
          <a:prstGeom prst="ellipse">
            <a:avLst/>
          </a:prstGeom>
          <a:solidFill>
            <a:srgbClr val="115E59">
              <a:alpha val="12000"/>
            </a:srgbClr>
          </a:solidFill>
          <a:ln w="12700">
            <a:solidFill>
              <a:srgbClr val="115E59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" y="4263390"/>
            <a:ext cx="274320" cy="274320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1417320" y="4183380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Label Correlation Change</a:t>
            </a:r>
            <a:endParaRPr lang="en-US" sz="1200" dirty="0"/>
          </a:p>
        </p:txBody>
      </p:sp>
      <p:sp>
        <p:nvSpPr>
          <p:cNvPr id="43" name="Text 34"/>
          <p:cNvSpPr/>
          <p:nvPr/>
        </p:nvSpPr>
        <p:spPr>
          <a:xfrm>
            <a:off x="1417320" y="4439412"/>
            <a:ext cx="44256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les liens variable-cible.</a:t>
            </a:r>
            <a:endParaRPr lang="en-US" sz="1000" dirty="0"/>
          </a:p>
        </p:txBody>
      </p:sp>
      <p:sp>
        <p:nvSpPr>
          <p:cNvPr id="44" name="Shape 35"/>
          <p:cNvSpPr/>
          <p:nvPr/>
        </p:nvSpPr>
        <p:spPr>
          <a:xfrm>
            <a:off x="6208776" y="4091940"/>
            <a:ext cx="5431536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6373368" y="4149090"/>
            <a:ext cx="502920" cy="502920"/>
          </a:xfrm>
          <a:prstGeom prst="ellipse">
            <a:avLst/>
          </a:prstGeom>
          <a:solidFill>
            <a:srgbClr val="115E59">
              <a:alpha val="12000"/>
            </a:srgbClr>
          </a:solidFill>
          <a:ln w="12700">
            <a:solidFill>
              <a:srgbClr val="115E59"/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7668" y="4263390"/>
            <a:ext cx="274320" cy="274320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7077456" y="4183380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Drift</a:t>
            </a:r>
            <a:endParaRPr lang="en-US" sz="1200" dirty="0"/>
          </a:p>
        </p:txBody>
      </p:sp>
      <p:sp>
        <p:nvSpPr>
          <p:cNvPr id="48" name="Text 38"/>
          <p:cNvSpPr/>
          <p:nvPr/>
        </p:nvSpPr>
        <p:spPr>
          <a:xfrm>
            <a:off x="7077456" y="4439412"/>
            <a:ext cx="44256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le drift global des distributions.</a:t>
            </a:r>
            <a:endParaRPr lang="en-US" sz="1000" dirty="0"/>
          </a:p>
        </p:txBody>
      </p:sp>
      <p:sp>
        <p:nvSpPr>
          <p:cNvPr id="49" name="Shape 39"/>
          <p:cNvSpPr/>
          <p:nvPr/>
        </p:nvSpPr>
        <p:spPr>
          <a:xfrm>
            <a:off x="548640" y="4846320"/>
            <a:ext cx="5431536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50" name="Shape 40"/>
          <p:cNvSpPr/>
          <p:nvPr/>
        </p:nvSpPr>
        <p:spPr>
          <a:xfrm>
            <a:off x="713232" y="4903470"/>
            <a:ext cx="502920" cy="502920"/>
          </a:xfrm>
          <a:prstGeom prst="ellipse">
            <a:avLst/>
          </a:prstGeom>
          <a:solidFill>
            <a:srgbClr val="115E59">
              <a:alpha val="12000"/>
            </a:srgbClr>
          </a:solidFill>
          <a:ln w="12700">
            <a:solidFill>
              <a:srgbClr val="115E59"/>
            </a:solidFill>
            <a:prstDash val="solid"/>
          </a:ln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532" y="5017770"/>
            <a:ext cx="274320" cy="274320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1417320" y="4937760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Drift</a:t>
            </a:r>
            <a:endParaRPr lang="en-US" sz="1200" dirty="0"/>
          </a:p>
        </p:txBody>
      </p:sp>
      <p:sp>
        <p:nvSpPr>
          <p:cNvPr id="53" name="Text 42"/>
          <p:cNvSpPr/>
          <p:nvPr/>
        </p:nvSpPr>
        <p:spPr>
          <a:xfrm>
            <a:off x="1417320" y="5193792"/>
            <a:ext cx="44256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la distribution de la cible.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6208776" y="4846320"/>
            <a:ext cx="5431536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55" name="Shape 44"/>
          <p:cNvSpPr/>
          <p:nvPr/>
        </p:nvSpPr>
        <p:spPr>
          <a:xfrm>
            <a:off x="6373368" y="4903470"/>
            <a:ext cx="502920" cy="502920"/>
          </a:xfrm>
          <a:prstGeom prst="ellipse">
            <a:avLst/>
          </a:prstGeom>
          <a:solidFill>
            <a:srgbClr val="115E59">
              <a:alpha val="12000"/>
            </a:srgbClr>
          </a:solidFill>
          <a:ln w="12700">
            <a:solidFill>
              <a:srgbClr val="115E59"/>
            </a:solidFill>
            <a:prstDash val="solid"/>
          </a:ln>
        </p:spPr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7668" y="5017770"/>
            <a:ext cx="274320" cy="274320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7077456" y="4937760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Train Test Leakage Overlap</a:t>
            </a:r>
            <a:endParaRPr lang="en-US" sz="1200" dirty="0"/>
          </a:p>
        </p:txBody>
      </p:sp>
      <p:sp>
        <p:nvSpPr>
          <p:cNvPr id="58" name="Text 46"/>
          <p:cNvSpPr/>
          <p:nvPr/>
        </p:nvSpPr>
        <p:spPr>
          <a:xfrm>
            <a:off x="7077456" y="5193792"/>
            <a:ext cx="44256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Repère des dates qui se chevauchent.</a:t>
            </a:r>
            <a:endParaRPr lang="en-US" sz="1000" dirty="0"/>
          </a:p>
        </p:txBody>
      </p:sp>
      <p:sp>
        <p:nvSpPr>
          <p:cNvPr id="59" name="Shape 47"/>
          <p:cNvSpPr/>
          <p:nvPr/>
        </p:nvSpPr>
        <p:spPr>
          <a:xfrm>
            <a:off x="548640" y="5600700"/>
            <a:ext cx="5431536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60" name="Shape 48"/>
          <p:cNvSpPr/>
          <p:nvPr/>
        </p:nvSpPr>
        <p:spPr>
          <a:xfrm>
            <a:off x="713232" y="5657850"/>
            <a:ext cx="502920" cy="502920"/>
          </a:xfrm>
          <a:prstGeom prst="ellipse">
            <a:avLst/>
          </a:prstGeom>
          <a:solidFill>
            <a:srgbClr val="115E59">
              <a:alpha val="12000"/>
            </a:srgbClr>
          </a:solidFill>
          <a:ln w="12700">
            <a:solidFill>
              <a:srgbClr val="115E59"/>
            </a:solidFill>
            <a:prstDash val="solid"/>
          </a:ln>
        </p:spPr>
      </p:sp>
      <p:pic>
        <p:nvPicPr>
          <p:cNvPr id="6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7532" y="5772150"/>
            <a:ext cx="274320" cy="274320"/>
          </a:xfrm>
          <a:prstGeom prst="rect">
            <a:avLst/>
          </a:prstGeom>
        </p:spPr>
      </p:pic>
      <p:sp>
        <p:nvSpPr>
          <p:cNvPr id="62" name="Text 49"/>
          <p:cNvSpPr/>
          <p:nvPr/>
        </p:nvSpPr>
        <p:spPr>
          <a:xfrm>
            <a:off x="1417320" y="5692140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Train Test Leakage Duplicates</a:t>
            </a:r>
            <a:endParaRPr lang="en-US" sz="1200" dirty="0"/>
          </a:p>
        </p:txBody>
      </p:sp>
      <p:sp>
        <p:nvSpPr>
          <p:cNvPr id="63" name="Text 50"/>
          <p:cNvSpPr/>
          <p:nvPr/>
        </p:nvSpPr>
        <p:spPr>
          <a:xfrm>
            <a:off x="1417320" y="5948172"/>
            <a:ext cx="44256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Repère des dates dupliquées train/test.</a:t>
            </a:r>
            <a:endParaRPr lang="en-US" sz="1000" dirty="0"/>
          </a:p>
        </p:txBody>
      </p:sp>
      <p:sp>
        <p:nvSpPr>
          <p:cNvPr id="64" name="Shape 51"/>
          <p:cNvSpPr/>
          <p:nvPr/>
        </p:nvSpPr>
        <p:spPr>
          <a:xfrm>
            <a:off x="6208776" y="5600700"/>
            <a:ext cx="5431536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65" name="Shape 52"/>
          <p:cNvSpPr/>
          <p:nvPr/>
        </p:nvSpPr>
        <p:spPr>
          <a:xfrm>
            <a:off x="6373368" y="5657850"/>
            <a:ext cx="502920" cy="502920"/>
          </a:xfrm>
          <a:prstGeom prst="ellipse">
            <a:avLst/>
          </a:prstGeom>
          <a:solidFill>
            <a:srgbClr val="115E59">
              <a:alpha val="12000"/>
            </a:srgbClr>
          </a:solidFill>
          <a:ln w="12700">
            <a:solidFill>
              <a:srgbClr val="115E59"/>
            </a:solidFill>
            <a:prstDash val="solid"/>
          </a:ln>
        </p:spPr>
      </p:sp>
      <p:pic>
        <p:nvPicPr>
          <p:cNvPr id="6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87668" y="5772150"/>
            <a:ext cx="274320" cy="274320"/>
          </a:xfrm>
          <a:prstGeom prst="rect">
            <a:avLst/>
          </a:prstGeom>
        </p:spPr>
      </p:pic>
      <p:sp>
        <p:nvSpPr>
          <p:cNvPr id="67" name="Text 53"/>
          <p:cNvSpPr/>
          <p:nvPr/>
        </p:nvSpPr>
        <p:spPr>
          <a:xfrm>
            <a:off x="7077456" y="5692140"/>
            <a:ext cx="4425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Drift</a:t>
            </a:r>
            <a:endParaRPr lang="en-US" sz="1200" dirty="0"/>
          </a:p>
        </p:txBody>
      </p:sp>
      <p:sp>
        <p:nvSpPr>
          <p:cNvPr id="68" name="Text 54"/>
          <p:cNvSpPr/>
          <p:nvPr/>
        </p:nvSpPr>
        <p:spPr>
          <a:xfrm>
            <a:off x="7077456" y="5948172"/>
            <a:ext cx="4425696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le drift de chaque variable.</a:t>
            </a:r>
            <a:endParaRPr lang="en-US" sz="1000" dirty="0"/>
          </a:p>
        </p:txBody>
      </p:sp>
      <p:sp>
        <p:nvSpPr>
          <p:cNvPr id="69" name="Text 55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documentation officielle Deepchecks — Tabular Checks Gallery</a:t>
            </a:r>
            <a:endParaRPr lang="en-US" sz="800" dirty="0"/>
          </a:p>
        </p:txBody>
      </p:sp>
      <p:sp>
        <p:nvSpPr>
          <p:cNvPr id="70" name="Text 56"/>
          <p:cNvSpPr/>
          <p:nvPr/>
        </p:nvSpPr>
        <p:spPr>
          <a:xfrm>
            <a:off x="6702552" y="64922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  ·   Train Test Validation   ·   Model Evaluation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03  ·  CATÉGORIE 3 /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7724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Evaluation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des performances du modèle — précision, biais, calibration et comparaisons.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177272" y="59436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77272" y="64008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177272" y="10972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3575304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1908810"/>
            <a:ext cx="457200" cy="4572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2009394"/>
            <a:ext cx="256032" cy="25603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5880" y="1901952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Info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325880" y="2157984"/>
            <a:ext cx="266090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Résume les propriétés du modèle.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306824" y="1828800"/>
            <a:ext cx="3575304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471416" y="1908810"/>
            <a:ext cx="457200" cy="4572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009394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84064" y="1901952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Performance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084064" y="2157984"/>
            <a:ext cx="266090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la performance par sous-groupe.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8065008" y="1828800"/>
            <a:ext cx="3575304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29600" y="1908810"/>
            <a:ext cx="457200" cy="4572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184" y="2009394"/>
            <a:ext cx="256032" cy="25603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842248" y="1901952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Unused Features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842248" y="2157984"/>
            <a:ext cx="266090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Signale les variables inutilisées.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548640" y="2583180"/>
            <a:ext cx="3575304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13232" y="2663190"/>
            <a:ext cx="457200" cy="4572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" y="2763774"/>
            <a:ext cx="256032" cy="2560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325880" y="2656332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Bias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1325880" y="2912364"/>
            <a:ext cx="266090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 une performance inégale entre groupes.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4306824" y="2583180"/>
            <a:ext cx="3575304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471416" y="2663190"/>
            <a:ext cx="457200" cy="4572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763774"/>
            <a:ext cx="256032" cy="25603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084064" y="2656332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Model Comparison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5084064" y="2912364"/>
            <a:ext cx="266090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au modèle de référence simple.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8065008" y="2583180"/>
            <a:ext cx="3575304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8229600" y="2663190"/>
            <a:ext cx="457200" cy="4572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0184" y="2763774"/>
            <a:ext cx="256032" cy="25603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8842248" y="2656332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Segments Performance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8842248" y="2912364"/>
            <a:ext cx="266090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 en avant les segments les plus faibles.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548640" y="3337560"/>
            <a:ext cx="3575304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713232" y="3417570"/>
            <a:ext cx="457200" cy="4572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" y="3518154"/>
            <a:ext cx="256032" cy="256032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1325880" y="3410712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Inference Time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1325880" y="3666744"/>
            <a:ext cx="266090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le temps de prédiction.</a:t>
            </a:r>
            <a:endParaRPr lang="en-US" sz="950" dirty="0"/>
          </a:p>
        </p:txBody>
      </p:sp>
      <p:sp>
        <p:nvSpPr>
          <p:cNvPr id="44" name="Shape 35"/>
          <p:cNvSpPr/>
          <p:nvPr/>
        </p:nvSpPr>
        <p:spPr>
          <a:xfrm>
            <a:off x="4306824" y="3337560"/>
            <a:ext cx="3575304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4471416" y="3417570"/>
            <a:ext cx="457200" cy="4572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0" y="3518154"/>
            <a:ext cx="256032" cy="256032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5084064" y="3410712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Systematic Error</a:t>
            </a:r>
            <a:endParaRPr lang="en-US" sz="1100" dirty="0"/>
          </a:p>
        </p:txBody>
      </p:sp>
      <p:sp>
        <p:nvSpPr>
          <p:cNvPr id="48" name="Text 38"/>
          <p:cNvSpPr/>
          <p:nvPr/>
        </p:nvSpPr>
        <p:spPr>
          <a:xfrm>
            <a:off x="5084064" y="3666744"/>
            <a:ext cx="266090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 un biais d'erreur en régression.</a:t>
            </a:r>
            <a:endParaRPr lang="en-US" sz="950" dirty="0"/>
          </a:p>
        </p:txBody>
      </p:sp>
      <p:sp>
        <p:nvSpPr>
          <p:cNvPr id="49" name="Shape 39"/>
          <p:cNvSpPr/>
          <p:nvPr/>
        </p:nvSpPr>
        <p:spPr>
          <a:xfrm>
            <a:off x="8065008" y="3337560"/>
            <a:ext cx="3575304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50" name="Shape 40"/>
          <p:cNvSpPr/>
          <p:nvPr/>
        </p:nvSpPr>
        <p:spPr>
          <a:xfrm>
            <a:off x="8229600" y="3417570"/>
            <a:ext cx="457200" cy="4572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30184" y="3518154"/>
            <a:ext cx="256032" cy="256032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8842248" y="3410712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Dataset Performance</a:t>
            </a:r>
            <a:endParaRPr lang="en-US" sz="1100" dirty="0"/>
          </a:p>
        </p:txBody>
      </p:sp>
      <p:sp>
        <p:nvSpPr>
          <p:cNvPr id="53" name="Text 42"/>
          <p:cNvSpPr/>
          <p:nvPr/>
        </p:nvSpPr>
        <p:spPr>
          <a:xfrm>
            <a:off x="8842248" y="3666744"/>
            <a:ext cx="266090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 la performance sur un seul dataset.</a:t>
            </a:r>
            <a:endParaRPr lang="en-US" sz="950" dirty="0"/>
          </a:p>
        </p:txBody>
      </p:sp>
      <p:sp>
        <p:nvSpPr>
          <p:cNvPr id="54" name="Shape 43"/>
          <p:cNvSpPr/>
          <p:nvPr/>
        </p:nvSpPr>
        <p:spPr>
          <a:xfrm>
            <a:off x="548640" y="4091940"/>
            <a:ext cx="3575304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55" name="Shape 44"/>
          <p:cNvSpPr/>
          <p:nvPr/>
        </p:nvSpPr>
        <p:spPr>
          <a:xfrm>
            <a:off x="713232" y="4171950"/>
            <a:ext cx="457200" cy="4572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5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3816" y="4272534"/>
            <a:ext cx="256032" cy="256032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1325880" y="4165092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Test Performance</a:t>
            </a:r>
            <a:endParaRPr lang="en-US" sz="1100" dirty="0"/>
          </a:p>
        </p:txBody>
      </p:sp>
      <p:sp>
        <p:nvSpPr>
          <p:cNvPr id="58" name="Text 46"/>
          <p:cNvSpPr/>
          <p:nvPr/>
        </p:nvSpPr>
        <p:spPr>
          <a:xfrm>
            <a:off x="1325880" y="4421124"/>
            <a:ext cx="266090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performance train vs test.</a:t>
            </a:r>
            <a:endParaRPr lang="en-US" sz="950" dirty="0"/>
          </a:p>
        </p:txBody>
      </p:sp>
      <p:sp>
        <p:nvSpPr>
          <p:cNvPr id="59" name="Shape 47"/>
          <p:cNvSpPr/>
          <p:nvPr/>
        </p:nvSpPr>
        <p:spPr>
          <a:xfrm>
            <a:off x="4306824" y="4091940"/>
            <a:ext cx="3575304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60" name="Shape 48"/>
          <p:cNvSpPr/>
          <p:nvPr/>
        </p:nvSpPr>
        <p:spPr>
          <a:xfrm>
            <a:off x="4471416" y="4171950"/>
            <a:ext cx="457200" cy="4572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0" y="4272534"/>
            <a:ext cx="256032" cy="256032"/>
          </a:xfrm>
          <a:prstGeom prst="rect">
            <a:avLst/>
          </a:prstGeom>
        </p:spPr>
      </p:pic>
      <p:sp>
        <p:nvSpPr>
          <p:cNvPr id="62" name="Text 49"/>
          <p:cNvSpPr/>
          <p:nvPr/>
        </p:nvSpPr>
        <p:spPr>
          <a:xfrm>
            <a:off x="5084064" y="4165092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Report</a:t>
            </a:r>
            <a:endParaRPr lang="en-US" sz="1100" dirty="0"/>
          </a:p>
        </p:txBody>
      </p:sp>
      <p:sp>
        <p:nvSpPr>
          <p:cNvPr id="63" name="Text 50"/>
          <p:cNvSpPr/>
          <p:nvPr/>
        </p:nvSpPr>
        <p:spPr>
          <a:xfrm>
            <a:off x="5084064" y="4421124"/>
            <a:ext cx="266090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Présente les courbes ROC / AUC.</a:t>
            </a:r>
            <a:endParaRPr lang="en-US" sz="950" dirty="0"/>
          </a:p>
        </p:txBody>
      </p:sp>
      <p:sp>
        <p:nvSpPr>
          <p:cNvPr id="64" name="Shape 51"/>
          <p:cNvSpPr/>
          <p:nvPr/>
        </p:nvSpPr>
        <p:spPr>
          <a:xfrm>
            <a:off x="8065008" y="4091940"/>
            <a:ext cx="3575304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65" name="Shape 52"/>
          <p:cNvSpPr/>
          <p:nvPr/>
        </p:nvSpPr>
        <p:spPr>
          <a:xfrm>
            <a:off x="8229600" y="4171950"/>
            <a:ext cx="457200" cy="4572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30184" y="4272534"/>
            <a:ext cx="256032" cy="256032"/>
          </a:xfrm>
          <a:prstGeom prst="rect">
            <a:avLst/>
          </a:prstGeom>
        </p:spPr>
      </p:pic>
      <p:sp>
        <p:nvSpPr>
          <p:cNvPr id="67" name="Text 53"/>
          <p:cNvSpPr/>
          <p:nvPr/>
        </p:nvSpPr>
        <p:spPr>
          <a:xfrm>
            <a:off x="8842248" y="4165092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Error Distribution</a:t>
            </a:r>
            <a:endParaRPr lang="en-US" sz="1100" dirty="0"/>
          </a:p>
        </p:txBody>
      </p:sp>
      <p:sp>
        <p:nvSpPr>
          <p:cNvPr id="68" name="Text 54"/>
          <p:cNvSpPr/>
          <p:nvPr/>
        </p:nvSpPr>
        <p:spPr>
          <a:xfrm>
            <a:off x="8842248" y="4421124"/>
            <a:ext cx="266090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la distribution des erreurs.</a:t>
            </a:r>
            <a:endParaRPr lang="en-US" sz="950" dirty="0"/>
          </a:p>
        </p:txBody>
      </p:sp>
      <p:sp>
        <p:nvSpPr>
          <p:cNvPr id="69" name="Shape 55"/>
          <p:cNvSpPr/>
          <p:nvPr/>
        </p:nvSpPr>
        <p:spPr>
          <a:xfrm>
            <a:off x="548640" y="4846320"/>
            <a:ext cx="3575304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70" name="Shape 56"/>
          <p:cNvSpPr/>
          <p:nvPr/>
        </p:nvSpPr>
        <p:spPr>
          <a:xfrm>
            <a:off x="713232" y="4926330"/>
            <a:ext cx="457200" cy="4572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71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3816" y="5026914"/>
            <a:ext cx="256032" cy="256032"/>
          </a:xfrm>
          <a:prstGeom prst="rect">
            <a:avLst/>
          </a:prstGeom>
        </p:spPr>
      </p:pic>
      <p:sp>
        <p:nvSpPr>
          <p:cNvPr id="72" name="Text 57"/>
          <p:cNvSpPr/>
          <p:nvPr/>
        </p:nvSpPr>
        <p:spPr>
          <a:xfrm>
            <a:off x="1325880" y="4919472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Report</a:t>
            </a:r>
            <a:endParaRPr lang="en-US" sz="1100" dirty="0"/>
          </a:p>
        </p:txBody>
      </p:sp>
      <p:sp>
        <p:nvSpPr>
          <p:cNvPr id="73" name="Text 58"/>
          <p:cNvSpPr/>
          <p:nvPr/>
        </p:nvSpPr>
        <p:spPr>
          <a:xfrm>
            <a:off x="1325880" y="5175504"/>
            <a:ext cx="266090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Montre les erreurs par classe.</a:t>
            </a:r>
            <a:endParaRPr lang="en-US" sz="950" dirty="0"/>
          </a:p>
        </p:txBody>
      </p:sp>
      <p:sp>
        <p:nvSpPr>
          <p:cNvPr id="74" name="Shape 59"/>
          <p:cNvSpPr/>
          <p:nvPr/>
        </p:nvSpPr>
        <p:spPr>
          <a:xfrm>
            <a:off x="4306824" y="4846320"/>
            <a:ext cx="3575304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75" name="Shape 60"/>
          <p:cNvSpPr/>
          <p:nvPr/>
        </p:nvSpPr>
        <p:spPr>
          <a:xfrm>
            <a:off x="4471416" y="4926330"/>
            <a:ext cx="457200" cy="4572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7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0" y="5026914"/>
            <a:ext cx="256032" cy="256032"/>
          </a:xfrm>
          <a:prstGeom prst="rect">
            <a:avLst/>
          </a:prstGeom>
        </p:spPr>
      </p:pic>
      <p:sp>
        <p:nvSpPr>
          <p:cNvPr id="77" name="Text 61"/>
          <p:cNvSpPr/>
          <p:nvPr/>
        </p:nvSpPr>
        <p:spPr>
          <a:xfrm>
            <a:off x="5084064" y="4919472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Boosting Overfit</a:t>
            </a:r>
            <a:endParaRPr lang="en-US" sz="1100" dirty="0"/>
          </a:p>
        </p:txBody>
      </p:sp>
      <p:sp>
        <p:nvSpPr>
          <p:cNvPr id="78" name="Text 62"/>
          <p:cNvSpPr/>
          <p:nvPr/>
        </p:nvSpPr>
        <p:spPr>
          <a:xfrm>
            <a:off x="5084064" y="5175504"/>
            <a:ext cx="266090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 l'overfit sur modèles boosting.</a:t>
            </a:r>
            <a:endParaRPr lang="en-US" sz="950" dirty="0"/>
          </a:p>
        </p:txBody>
      </p:sp>
      <p:sp>
        <p:nvSpPr>
          <p:cNvPr id="79" name="Shape 63"/>
          <p:cNvSpPr/>
          <p:nvPr/>
        </p:nvSpPr>
        <p:spPr>
          <a:xfrm>
            <a:off x="8065008" y="4846320"/>
            <a:ext cx="3575304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80" name="Shape 64"/>
          <p:cNvSpPr/>
          <p:nvPr/>
        </p:nvSpPr>
        <p:spPr>
          <a:xfrm>
            <a:off x="8229600" y="4926330"/>
            <a:ext cx="457200" cy="4572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81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330184" y="5026914"/>
            <a:ext cx="256032" cy="256032"/>
          </a:xfrm>
          <a:prstGeom prst="rect">
            <a:avLst/>
          </a:prstGeom>
        </p:spPr>
      </p:pic>
      <p:sp>
        <p:nvSpPr>
          <p:cNvPr id="82" name="Text 65"/>
          <p:cNvSpPr/>
          <p:nvPr/>
        </p:nvSpPr>
        <p:spPr>
          <a:xfrm>
            <a:off x="8842248" y="4919472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Drift</a:t>
            </a:r>
            <a:endParaRPr lang="en-US" sz="1100" dirty="0"/>
          </a:p>
        </p:txBody>
      </p:sp>
      <p:sp>
        <p:nvSpPr>
          <p:cNvPr id="83" name="Text 66"/>
          <p:cNvSpPr/>
          <p:nvPr/>
        </p:nvSpPr>
        <p:spPr>
          <a:xfrm>
            <a:off x="8842248" y="5175504"/>
            <a:ext cx="266090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la distribution des prédictions.</a:t>
            </a:r>
            <a:endParaRPr lang="en-US" sz="950" dirty="0"/>
          </a:p>
        </p:txBody>
      </p:sp>
      <p:sp>
        <p:nvSpPr>
          <p:cNvPr id="84" name="Shape 67"/>
          <p:cNvSpPr/>
          <p:nvPr/>
        </p:nvSpPr>
        <p:spPr>
          <a:xfrm>
            <a:off x="548640" y="5600700"/>
            <a:ext cx="3575304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85" name="Shape 68"/>
          <p:cNvSpPr/>
          <p:nvPr/>
        </p:nvSpPr>
        <p:spPr>
          <a:xfrm>
            <a:off x="713232" y="5680710"/>
            <a:ext cx="457200" cy="4572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86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13816" y="5781294"/>
            <a:ext cx="256032" cy="256032"/>
          </a:xfrm>
          <a:prstGeom prst="rect">
            <a:avLst/>
          </a:prstGeom>
        </p:spPr>
      </p:pic>
      <p:sp>
        <p:nvSpPr>
          <p:cNvPr id="87" name="Text 69"/>
          <p:cNvSpPr/>
          <p:nvPr/>
        </p:nvSpPr>
        <p:spPr>
          <a:xfrm>
            <a:off x="1325880" y="5673852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Score</a:t>
            </a:r>
            <a:endParaRPr lang="en-US" sz="1100" dirty="0"/>
          </a:p>
        </p:txBody>
      </p:sp>
      <p:sp>
        <p:nvSpPr>
          <p:cNvPr id="88" name="Text 70"/>
          <p:cNvSpPr/>
          <p:nvPr/>
        </p:nvSpPr>
        <p:spPr>
          <a:xfrm>
            <a:off x="1325880" y="5929884"/>
            <a:ext cx="266090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la fiabilité des probabilités.</a:t>
            </a:r>
            <a:endParaRPr lang="en-US" sz="950" dirty="0"/>
          </a:p>
        </p:txBody>
      </p:sp>
      <p:sp>
        <p:nvSpPr>
          <p:cNvPr id="89" name="Shape 71"/>
          <p:cNvSpPr/>
          <p:nvPr/>
        </p:nvSpPr>
        <p:spPr>
          <a:xfrm>
            <a:off x="4306824" y="5600700"/>
            <a:ext cx="3575304" cy="6172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25400" dir="5400000">
              <a:srgbClr val="0F172A">
                <a:alpha val="8000"/>
              </a:srgbClr>
            </a:outerShdw>
          </a:effectLst>
        </p:spPr>
      </p:sp>
      <p:sp>
        <p:nvSpPr>
          <p:cNvPr id="90" name="Shape 72"/>
          <p:cNvSpPr/>
          <p:nvPr/>
        </p:nvSpPr>
        <p:spPr>
          <a:xfrm>
            <a:off x="4471416" y="5680710"/>
            <a:ext cx="457200" cy="4572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91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72000" y="5781294"/>
            <a:ext cx="256032" cy="256032"/>
          </a:xfrm>
          <a:prstGeom prst="rect">
            <a:avLst/>
          </a:prstGeom>
        </p:spPr>
      </p:pic>
      <p:sp>
        <p:nvSpPr>
          <p:cNvPr id="92" name="Text 73"/>
          <p:cNvSpPr/>
          <p:nvPr/>
        </p:nvSpPr>
        <p:spPr>
          <a:xfrm>
            <a:off x="5084064" y="5673852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 Model Performance Report</a:t>
            </a:r>
            <a:endParaRPr lang="en-US" sz="1100" dirty="0"/>
          </a:p>
        </p:txBody>
      </p:sp>
      <p:sp>
        <p:nvSpPr>
          <p:cNvPr id="93" name="Text 74"/>
          <p:cNvSpPr/>
          <p:nvPr/>
        </p:nvSpPr>
        <p:spPr>
          <a:xfrm>
            <a:off x="5084064" y="5929884"/>
            <a:ext cx="2660904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plusieurs modèles ensemble.</a:t>
            </a:r>
            <a:endParaRPr lang="en-US" sz="950" dirty="0"/>
          </a:p>
        </p:txBody>
      </p:sp>
      <p:sp>
        <p:nvSpPr>
          <p:cNvPr id="94" name="Text 75"/>
          <p:cNvSpPr/>
          <p:nvPr/>
        </p:nvSpPr>
        <p:spPr>
          <a:xfrm>
            <a:off x="548640" y="64922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documentation officielle Deepchecks — Tabular Checks Gallery</a:t>
            </a:r>
            <a:endParaRPr lang="en-US" sz="800" dirty="0"/>
          </a:p>
        </p:txBody>
      </p:sp>
      <p:sp>
        <p:nvSpPr>
          <p:cNvPr id="95" name="Text 76"/>
          <p:cNvSpPr/>
          <p:nvPr/>
        </p:nvSpPr>
        <p:spPr>
          <a:xfrm>
            <a:off x="6702552" y="649224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  ·   Train Test Validation   ·   Model Evaluation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Deepchecks — Tabular Checks Gallery</dc:title>
  <dc:subject>PptxGenJS Presentation</dc:subject>
  <dc:creator>Deepchecks Overview</dc:creator>
  <cp:lastModifiedBy>Deepchecks Overview</cp:lastModifiedBy>
  <cp:revision>1</cp:revision>
  <dcterms:created xsi:type="dcterms:W3CDTF">2026-05-12T20:09:19Z</dcterms:created>
  <dcterms:modified xsi:type="dcterms:W3CDTF">2026-05-12T20:09:19Z</dcterms:modified>
</cp:coreProperties>
</file>