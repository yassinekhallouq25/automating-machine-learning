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Deepchecks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13232" y="162763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5C667A"/>
                </a:solidFill>
              </a:rPr>
              <a:t>Validation des données tabulaires et des modèles ML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13232" y="2331720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2432304"/>
            <a:ext cx="1993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 • suite • condition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29400" y="1078992"/>
            <a:ext cx="44805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CE5F7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9440" y="138988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38"/>
                </a:solidFill>
              </a:rPr>
              <a:t>Dataset tabulaire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967728" y="1901952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901952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1901952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81744" y="1901952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67728" y="2295144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2295144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77072" y="2295144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81744" y="2295144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67728" y="2688336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2688336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77072" y="2688336"/>
            <a:ext cx="658368" cy="237744"/>
          </a:xfrm>
          <a:prstGeom prst="rect">
            <a:avLst/>
          </a:prstGeom>
          <a:solidFill>
            <a:srgbClr val="FDECEC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81744" y="2688336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67728" y="3081528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3081528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77072" y="3081528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81744" y="3081528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67728" y="3474720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3474720"/>
            <a:ext cx="658368" cy="237744"/>
          </a:xfrm>
          <a:prstGeom prst="rect">
            <a:avLst/>
          </a:prstGeom>
          <a:solidFill>
            <a:srgbClr val="FFF5DA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77072" y="3474720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81744" y="3474720"/>
            <a:ext cx="658368" cy="237744"/>
          </a:xfrm>
          <a:prstGeom prst="rect">
            <a:avLst/>
          </a:prstGeom>
          <a:solidFill>
            <a:srgbClr val="F1F5FB"/>
          </a:solidFill>
          <a:ln w="7620">
            <a:solidFill>
              <a:srgbClr val="D7E0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12680" y="2743200"/>
            <a:ext cx="667512" cy="0"/>
          </a:xfrm>
          <a:prstGeom prst="line">
            <a:avLst/>
          </a:prstGeom>
          <a:noFill/>
          <a:ln w="27940">
            <a:solidFill>
              <a:srgbClr val="15B8C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314432" y="2359152"/>
            <a:ext cx="713232" cy="713232"/>
          </a:xfrm>
          <a:prstGeom prst="ellipse">
            <a:avLst/>
          </a:prstGeom>
          <a:solidFill>
            <a:srgbClr val="EAF7EF"/>
          </a:solidFill>
          <a:ln w="19050">
            <a:solidFill>
              <a:srgbClr val="31A3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06456" y="24688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1A354"/>
                </a:solidFill>
              </a:rPr>
              <a:t>✓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315200" y="4526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C667A"/>
                </a:solidFill>
              </a:rPr>
              <a:t>Audit automatique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utiliser Deepchecks 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Objectif : détecter tôt les problèmes de données et de modèle, avant la mise en production.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3154680" cy="38862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783080"/>
            <a:ext cx="658368" cy="658368"/>
          </a:xfrm>
          <a:prstGeom prst="ellipse">
            <a:avLst/>
          </a:prstGeom>
          <a:solidFill>
            <a:srgbClr val="EAF2FF"/>
          </a:solidFill>
          <a:ln w="16510">
            <a:solidFill>
              <a:srgbClr val="2A6F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6152" y="1947672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DB"/>
                </a:solidFill>
              </a:rPr>
              <a:t>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3272" y="26974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8"/>
                </a:solidFill>
              </a:rPr>
              <a:t>Qualité des données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33272" y="3246120"/>
            <a:ext cx="25146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Valeurs manquantes, doublons, types mixtes, outliers.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508760"/>
            <a:ext cx="3154680" cy="38862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783080"/>
            <a:ext cx="658368" cy="658368"/>
          </a:xfrm>
          <a:prstGeom prst="ellipse">
            <a:avLst/>
          </a:prstGeom>
          <a:solidFill>
            <a:srgbClr val="FFF5DA"/>
          </a:solidFill>
          <a:ln w="16510">
            <a:solidFill>
              <a:srgbClr val="F2B1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947672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134"/>
                </a:solidFill>
              </a:rPr>
              <a:t>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28032" y="26974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8"/>
                </a:solidFill>
              </a:rPr>
              <a:t>Validation train/test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828032" y="3246120"/>
            <a:ext cx="25146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Drift, fuite de données, catégories nouvelles, déséquilibres.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66760" y="1508760"/>
            <a:ext cx="3154680" cy="38862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0" y="1783080"/>
            <a:ext cx="658368" cy="658368"/>
          </a:xfrm>
          <a:prstGeom prst="ellipse">
            <a:avLst/>
          </a:prstGeom>
          <a:solidFill>
            <a:srgbClr val="EAF7EF"/>
          </a:solidFill>
          <a:ln w="16510">
            <a:solidFill>
              <a:srgbClr val="31A3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05672" y="1947672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A354"/>
                </a:solidFill>
              </a:rPr>
              <a:t>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22792" y="26974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8"/>
                </a:solidFill>
              </a:rPr>
              <a:t>Évaluation modèle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622792" y="3246120"/>
            <a:ext cx="25146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Performance, biais par segment, overfitting, drift des prédictions.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580644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Deepchecks propose des suites prêtes à l’emploi, composées de checks exécutables sur pandas DataFrame et modèles sklearn-like.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fonctionnement en une image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Deepchecks transforme vos jeux de données et modèles en rapports d’audit actionnables.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920240" y="2926080"/>
            <a:ext cx="868680" cy="0"/>
          </a:xfrm>
          <a:prstGeom prst="line">
            <a:avLst/>
          </a:prstGeom>
          <a:noFill/>
          <a:ln w="27940">
            <a:solidFill>
              <a:srgbClr val="2A6FDB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206240" y="2926080"/>
            <a:ext cx="868680" cy="0"/>
          </a:xfrm>
          <a:prstGeom prst="line">
            <a:avLst/>
          </a:prstGeom>
          <a:noFill/>
          <a:ln w="27940">
            <a:solidFill>
              <a:srgbClr val="15B8C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492240" y="2926080"/>
            <a:ext cx="868680" cy="0"/>
          </a:xfrm>
          <a:prstGeom prst="line">
            <a:avLst/>
          </a:prstGeom>
          <a:noFill/>
          <a:ln w="27940">
            <a:solidFill>
              <a:srgbClr val="31A35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778240" y="2926080"/>
            <a:ext cx="868680" cy="0"/>
          </a:xfrm>
          <a:prstGeom prst="line">
            <a:avLst/>
          </a:prstGeom>
          <a:noFill/>
          <a:ln w="27940">
            <a:solidFill>
              <a:srgbClr val="F2B13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" y="214884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D1F3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5528" y="2423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DataFrame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pandas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train/test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71800" y="214884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DEDF2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81528" y="2423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Dataset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08960" y="2834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métadonnées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label, cat_features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57800" y="214884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E4CD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67528" y="2423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Suite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94960" y="2834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liste de checks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paramétrables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43800" y="214884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2D899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53528" y="2423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Result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80960" y="2834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rapport HTML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statut, graphiques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829800" y="214884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1B5B5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939528" y="2423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Décision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66960" y="2834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corriger, valider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ou monitorer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0" y="4370832"/>
            <a:ext cx="4572000" cy="384048"/>
          </a:xfrm>
          <a:prstGeom prst="bracePair">
            <a:avLst/>
          </a:prstGeom>
          <a:solidFill>
            <a:srgbClr val="F7F8FB">
              <a:alpha val="0"/>
            </a:srgbClr>
          </a:solidFill>
          <a:ln w="12700">
            <a:solidFill>
              <a:srgbClr val="5C66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4800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6FDB"/>
                </a:solidFill>
              </a:rPr>
              <a:t>cœur Deepchecks : Check + Condition + Suite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notions clés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Vocabulaire à maîtriser pour lire et configurer Deepchecks.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60120" y="13258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6FDB"/>
                </a:solidFill>
              </a:rPr>
              <a:t>Dataset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14600" y="1463040"/>
            <a:ext cx="502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54680" y="130759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Wrapper autour d’un DataFrame avec label, features catégorielles, index/date, etc.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B8C8"/>
                </a:solidFill>
              </a:rPr>
              <a:t>Check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514600" y="2331720"/>
            <a:ext cx="502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21762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Test ou analyse ciblée : drift, doublons, fuite, performance…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60120" y="30632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134"/>
                </a:solidFill>
              </a:rPr>
              <a:t>Condition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514600" y="3200400"/>
            <a:ext cx="502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304495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Règle de succès/échec appliquée au résultat d’un check.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60120" y="39319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A354"/>
                </a:solidFill>
              </a:rPr>
              <a:t>Suite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514600" y="4069080"/>
            <a:ext cx="502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391363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Collection ordonnée de checks adaptée à un cas d’usage.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60120" y="4800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C63FF"/>
                </a:solidFill>
              </a:rPr>
              <a:t>Result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514600" y="4937760"/>
            <a:ext cx="502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478231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Sortie interactive : métriques, graphiques, alertes et statut.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60120" y="5742432"/>
            <a:ext cx="10058400" cy="457200"/>
          </a:xfrm>
          <a:prstGeom prst="roundRect">
            <a:avLst>
              <a:gd name="adj" fmla="val 16000"/>
            </a:avLst>
          </a:prstGeom>
          <a:solidFill>
            <a:srgbClr val="EEF6FF"/>
          </a:solidFill>
          <a:ln w="12700">
            <a:solidFill>
              <a:srgbClr val="D4E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5879592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238"/>
                </a:solidFill>
              </a:rPr>
              <a:t>Idée simple : une suite lance plusieurs checks, chaque check produit un résultat, puis ses conditions décident si c’est OK, warning ou échec.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Anatomie d’un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Un check calcule une analyse spécifique, puis peut être jugé par une ou plusieurs conditions.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011680" y="3154680"/>
            <a:ext cx="1783080" cy="0"/>
          </a:xfrm>
          <a:prstGeom prst="line">
            <a:avLst/>
          </a:prstGeom>
          <a:noFill/>
          <a:ln w="27940">
            <a:solidFill>
              <a:srgbClr val="2A6FDB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394960" y="3154680"/>
            <a:ext cx="1783080" cy="0"/>
          </a:xfrm>
          <a:prstGeom prst="line">
            <a:avLst/>
          </a:prstGeom>
          <a:noFill/>
          <a:ln w="27940">
            <a:solidFill>
              <a:srgbClr val="15B8C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732520" y="3154680"/>
            <a:ext cx="1463040" cy="0"/>
          </a:xfrm>
          <a:prstGeom prst="line">
            <a:avLst/>
          </a:prstGeom>
          <a:noFill/>
          <a:ln w="27940">
            <a:solidFill>
              <a:srgbClr val="31A35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2960" y="224028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FE0FF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25296" y="25420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238"/>
                </a:solidFill>
              </a:rPr>
              <a:t>Entrée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97180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Dataset(s)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+ modèle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optionnel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49040" y="201168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BDEDF2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70832" y="239572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B8C8"/>
                </a:solidFill>
              </a:rPr>
              <a:t>Check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77640" y="2862072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67A"/>
                </a:solidFill>
              </a:rPr>
              <a:t>ex. FeatureDrift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67A"/>
                </a:solidFill>
              </a:rPr>
              <a:t>calcule une distance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67A"/>
                </a:solidFill>
              </a:rPr>
              <a:t>entre train et test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86600" y="214884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0D695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52360" y="2514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134"/>
                </a:solidFill>
              </a:rPr>
              <a:t>Condition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06640" y="2980944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ex. “drift score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&lt; seuil”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012680" y="2331720"/>
            <a:ext cx="1417320" cy="16459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EE5CA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77856" y="26517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A354"/>
                </a:solidFill>
              </a:rPr>
              <a:t>Statut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77856" y="30540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67A"/>
                </a:solidFill>
              </a:rPr>
              <a:t>pass / fail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67A"/>
                </a:solidFill>
              </a:rPr>
              <a:t>warning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234440" y="5166360"/>
            <a:ext cx="9601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Sans condition, le check produit quand même un rapport ; avec condition, il devient un test automatisable.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principales Suites tabulaires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Choisir la bonne suite selon l’étape du pipeline ML.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0120" y="1463040"/>
            <a:ext cx="10241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FE0FF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34440" y="1691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6FDB"/>
                </a:solidFill>
              </a:rPr>
              <a:t>Data Integrity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60520" y="1709928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33672" y="1778508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6FDB"/>
                </a:solidFill>
              </a:rPr>
              <a:t>1 dataset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715000" y="1682496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Nettoyage et cohérence : données manquantes, duplicats, types, colonnes constantes.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0120" y="2880360"/>
            <a:ext cx="10241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1DB9C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34440" y="3108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134"/>
                </a:solidFill>
              </a:rPr>
              <a:t>Train-Test Validation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160520" y="3127248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5DA"/>
          </a:solidFill>
          <a:ln w="12700">
            <a:solidFill>
              <a:srgbClr val="FFF5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3672" y="3195828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B134"/>
                </a:solidFill>
              </a:rPr>
              <a:t>train + test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715000" y="3099816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Qualité du split : drift, fuite temporelle, nouvelles catégories, tailles de jeux.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60120" y="4297680"/>
            <a:ext cx="10241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FE4CD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34440" y="4526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A354"/>
                </a:solidFill>
              </a:rPr>
              <a:t>Model Evaluation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160520" y="4544568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3672" y="4613148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1A354"/>
                </a:solidFill>
              </a:rPr>
              <a:t>train + test + modèle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715000" y="4517136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Qualité du modèle : métriques, segments faibles, matrice de confusion, baseline.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5840" y="589788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67A"/>
                </a:solidFill>
              </a:rPr>
              <a:t>Autres options : full_suite pour un audit plus large, ou une Suite personnalisée avec seulement les checks utiles.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Exemples de checks — Data Integrity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À lancer sur un batch, train, test ou données arrivant en production.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783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32238"/>
                </a:solidFill>
              </a:rPr>
              <a:t>Mixed Data Types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51560" y="2231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Une colonne contient plusieurs types.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26280" y="150876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783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32238"/>
                </a:solidFill>
              </a:rPr>
              <a:t>Data Duplicates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754880" y="2231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Lignes identiques ou quasi identiques.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50876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58200" y="1783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32238"/>
                </a:solidFill>
              </a:rPr>
              <a:t>Feature Label Correlation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58200" y="2231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Variable trop corrélée à la cible.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606040" y="379476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34640" y="4069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32238"/>
                </a:solidFill>
              </a:rPr>
              <a:t>Outlier Sample Detection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834640" y="4517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Observations atypiques.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379476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4069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32238"/>
                </a:solidFill>
              </a:rPr>
              <a:t>Conflicting Labels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537960" y="4517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Mêmes features, labels différents.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Train-Test Validation : éviter les pièges du split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Cette suite compare train et test pour détecter drift, fuite et incohérences.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353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38"/>
                </a:solidFill>
              </a:rPr>
              <a:t>Distribution train vs test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43891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3886200"/>
            <a:ext cx="3246120" cy="0"/>
          </a:xfrm>
          <a:prstGeom prst="line">
            <a:avLst/>
          </a:prstGeom>
          <a:noFill/>
          <a:ln w="12700">
            <a:solidFill>
              <a:srgbClr val="B7C2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3566160"/>
            <a:ext cx="201168" cy="320040"/>
          </a:xfrm>
          <a:prstGeom prst="rect">
            <a:avLst/>
          </a:prstGeom>
          <a:solidFill>
            <a:srgbClr val="2A6FDB">
              <a:alpha val="90000"/>
            </a:srgbClr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3337560"/>
            <a:ext cx="201168" cy="548640"/>
          </a:xfrm>
          <a:prstGeom prst="rect">
            <a:avLst/>
          </a:prstGeom>
          <a:solidFill>
            <a:srgbClr val="2A6FDB">
              <a:alpha val="90000"/>
            </a:srgbClr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2743200"/>
            <a:ext cx="201168" cy="1143000"/>
          </a:xfrm>
          <a:prstGeom prst="rect">
            <a:avLst/>
          </a:prstGeom>
          <a:solidFill>
            <a:srgbClr val="2A6FDB">
              <a:alpha val="90000"/>
            </a:srgbClr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3063240"/>
            <a:ext cx="201168" cy="822960"/>
          </a:xfrm>
          <a:prstGeom prst="rect">
            <a:avLst/>
          </a:prstGeom>
          <a:solidFill>
            <a:srgbClr val="2A6FDB">
              <a:alpha val="90000"/>
            </a:srgbClr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3474720"/>
            <a:ext cx="201168" cy="411480"/>
          </a:xfrm>
          <a:prstGeom prst="rect">
            <a:avLst/>
          </a:prstGeom>
          <a:solidFill>
            <a:srgbClr val="2A6FDB">
              <a:alpha val="90000"/>
            </a:srgbClr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00784" y="3703320"/>
            <a:ext cx="201168" cy="182880"/>
          </a:xfrm>
          <a:prstGeom prst="rect">
            <a:avLst/>
          </a:prstGeom>
          <a:solidFill>
            <a:srgbClr val="F2B134">
              <a:alpha val="90000"/>
            </a:srgbClr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95144" y="3566160"/>
            <a:ext cx="201168" cy="320040"/>
          </a:xfrm>
          <a:prstGeom prst="rect">
            <a:avLst/>
          </a:prstGeom>
          <a:solidFill>
            <a:srgbClr val="F2B134">
              <a:alpha val="90000"/>
            </a:srgbClr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9504" y="3383280"/>
            <a:ext cx="201168" cy="502920"/>
          </a:xfrm>
          <a:prstGeom prst="rect">
            <a:avLst/>
          </a:prstGeom>
          <a:solidFill>
            <a:srgbClr val="F2B134">
              <a:alpha val="90000"/>
            </a:srgbClr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83864" y="2743200"/>
            <a:ext cx="201168" cy="1143000"/>
          </a:xfrm>
          <a:prstGeom prst="rect">
            <a:avLst/>
          </a:prstGeom>
          <a:solidFill>
            <a:srgbClr val="F2B134">
              <a:alpha val="90000"/>
            </a:srgbClr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78224" y="2971800"/>
            <a:ext cx="201168" cy="914400"/>
          </a:xfrm>
          <a:prstGeom prst="rect">
            <a:avLst/>
          </a:prstGeom>
          <a:solidFill>
            <a:srgbClr val="F2B134">
              <a:alpha val="90000"/>
            </a:srgbClr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5880" y="2057400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99032" y="2125980"/>
            <a:ext cx="539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6FDB"/>
                </a:solidFill>
              </a:rPr>
              <a:t>train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148840" y="2057400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FFF5DA"/>
          </a:solidFill>
          <a:ln w="12700">
            <a:solidFill>
              <a:srgbClr val="FFF5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21992" y="2125980"/>
            <a:ext cx="539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B134"/>
                </a:solidFill>
              </a:rPr>
              <a:t>test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25880" y="4434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67A"/>
                </a:solidFill>
              </a:rPr>
              <a:t>Drift = distributions trop différentes.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1353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38"/>
                </a:solidFill>
              </a:rPr>
              <a:t>Checks typiques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46520" y="1965960"/>
            <a:ext cx="109728" cy="109728"/>
          </a:xfrm>
          <a:prstGeom prst="ellipse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19019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Feature Drift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46520" y="2532888"/>
            <a:ext cx="109728" cy="109728"/>
          </a:xfrm>
          <a:prstGeom prst="ellipse">
            <a:avLst/>
          </a:prstGeom>
          <a:solidFill>
            <a:srgbClr val="15B8C8"/>
          </a:solidFill>
          <a:ln w="12700">
            <a:solidFill>
              <a:srgbClr val="15B8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2468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Label Drift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46520" y="3099816"/>
            <a:ext cx="109728" cy="109728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7688" y="30358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Date Leakage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46520" y="3666744"/>
            <a:ext cx="109728" cy="10972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47688" y="36027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New Category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46520" y="4233672"/>
            <a:ext cx="109728" cy="109728"/>
          </a:xfrm>
          <a:prstGeom prst="ellipse">
            <a:avLst/>
          </a:prstGeom>
          <a:solidFill>
            <a:srgbClr val="31A354"/>
          </a:solidFill>
          <a:ln w="12700">
            <a:solidFill>
              <a:srgbClr val="31A3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47688" y="41696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Train-Test Samples Mix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46520" y="5166360"/>
            <a:ext cx="4389120" cy="576072"/>
          </a:xfrm>
          <a:prstGeom prst="roundRect">
            <a:avLst>
              <a:gd name="adj" fmla="val 12698"/>
            </a:avLst>
          </a:prstGeom>
          <a:solidFill>
            <a:srgbClr val="FFF5DA"/>
          </a:solidFill>
          <a:ln w="12700">
            <a:solidFill>
              <a:srgbClr val="F2D8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533095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238"/>
                </a:solidFill>
              </a:rPr>
              <a:t>Message clé : un bon score modèle ne suffit pas si le split contient une fuite ou un drift important.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Evaluation : comprendre le modèle au-delà d’une métrique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Deepchecks génère des analyses globales et segmentées.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3017520" cy="31089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24712" y="17190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Matrice de confusion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44752" y="2240280"/>
            <a:ext cx="822960" cy="566928"/>
          </a:xfrm>
          <a:prstGeom prst="rect">
            <a:avLst/>
          </a:prstGeom>
          <a:solidFill>
            <a:srgbClr val="EAF7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27632" y="2395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</a:rPr>
              <a:t>TP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04872" y="2240280"/>
            <a:ext cx="822960" cy="566928"/>
          </a:xfrm>
          <a:prstGeom prst="rect">
            <a:avLst/>
          </a:prstGeom>
          <a:solidFill>
            <a:srgbClr val="FDECE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2395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</a:rPr>
              <a:t>FP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44752" y="2971800"/>
            <a:ext cx="822960" cy="566928"/>
          </a:xfrm>
          <a:prstGeom prst="rect">
            <a:avLst/>
          </a:prstGeom>
          <a:solidFill>
            <a:srgbClr val="FFF5D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27632" y="3127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</a:rPr>
              <a:t>FN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04872" y="2971800"/>
            <a:ext cx="822960" cy="566928"/>
          </a:xfrm>
          <a:prstGeom prst="rect">
            <a:avLst/>
          </a:prstGeom>
          <a:solidFill>
            <a:srgbClr val="EAF7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3127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238"/>
                </a:solidFill>
              </a:rPr>
              <a:t>TN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1417320"/>
            <a:ext cx="3017520" cy="31089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Segments faibles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74920" y="2240280"/>
            <a:ext cx="1005840" cy="201168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4920" y="2651760"/>
            <a:ext cx="658368" cy="201168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4920" y="3063240"/>
            <a:ext cx="1234440" cy="201168"/>
          </a:xfrm>
          <a:prstGeom prst="rect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3474720"/>
            <a:ext cx="384048" cy="201168"/>
          </a:xfrm>
          <a:prstGeom prst="rect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31012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segment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faible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0" y="1417320"/>
            <a:ext cx="3017520" cy="31089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68512" y="17190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Overfitting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732520" y="3611880"/>
            <a:ext cx="1828800" cy="0"/>
          </a:xfrm>
          <a:prstGeom prst="line">
            <a:avLst/>
          </a:prstGeom>
          <a:noFill/>
          <a:ln w="12700">
            <a:solidFill>
              <a:srgbClr val="B7C2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32520" y="3611880"/>
            <a:ext cx="0" cy="-1417320"/>
          </a:xfrm>
          <a:prstGeom prst="line">
            <a:avLst/>
          </a:prstGeom>
          <a:noFill/>
          <a:ln w="12700">
            <a:solidFill>
              <a:srgbClr val="B7C2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23960" y="2423160"/>
            <a:ext cx="1600200" cy="320040"/>
          </a:xfrm>
          <a:prstGeom prst="line">
            <a:avLst/>
          </a:prstGeom>
          <a:noFill/>
          <a:ln w="25400">
            <a:solidFill>
              <a:srgbClr val="31A3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3960" y="3246120"/>
            <a:ext cx="1600200" cy="-228600"/>
          </a:xfrm>
          <a:prstGeom prst="line">
            <a:avLst/>
          </a:prstGeom>
          <a:noFill/>
          <a:ln w="25400">
            <a:solidFill>
              <a:srgbClr val="D95F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23960" y="3822192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97112" y="3890772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1A354"/>
                </a:solidFill>
              </a:rPr>
              <a:t>train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646920" y="3822192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20072" y="3890772"/>
            <a:ext cx="539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5F5F"/>
                </a:solidFill>
              </a:rPr>
              <a:t>test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559612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Résultat : savoir où le modèle échoue, pas seulement “combien”.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Conditions : transformer une analyse en 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Une condition rend le résultat exploitable dans un pipeline CI/CD ou MLOps.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48463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34440" y="1755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Exemples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25880" y="2395728"/>
            <a:ext cx="109728" cy="109728"/>
          </a:xfrm>
          <a:prstGeom prst="ellipse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27048" y="2331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Feature drift score inférieur à un seuil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25880" y="2944368"/>
            <a:ext cx="109728" cy="10972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7048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Dégradation relative train/test &lt; 30 %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25880" y="3493008"/>
            <a:ext cx="109728" cy="109728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7048" y="3429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Aucune fuite temporelle détectée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25880" y="4041648"/>
            <a:ext cx="109728" cy="109728"/>
          </a:xfrm>
          <a:prstGeom prst="ellipse">
            <a:avLst/>
          </a:prstGeom>
          <a:solidFill>
            <a:srgbClr val="31A354"/>
          </a:solidFill>
          <a:ln w="12700">
            <a:solidFill>
              <a:srgbClr val="31A3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27048" y="3977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Taux de valeurs manquantes acceptable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1417320"/>
            <a:ext cx="46634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1755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238"/>
                </a:solidFill>
              </a:rPr>
              <a:t>Cycle de personnalisation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03720" y="2331720"/>
            <a:ext cx="310896" cy="310896"/>
          </a:xfrm>
          <a:prstGeom prst="ellipse">
            <a:avLst/>
          </a:prstGeom>
          <a:solidFill>
            <a:srgbClr val="2A6FDB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04304" y="240487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360920" y="23591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1. Inspecter la suite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03720" y="2953512"/>
            <a:ext cx="310896" cy="310896"/>
          </a:xfrm>
          <a:prstGeom prst="ellipse">
            <a:avLst/>
          </a:prstGeom>
          <a:solidFill>
            <a:srgbClr val="15B8C8"/>
          </a:solidFill>
          <a:ln w="12700">
            <a:solidFill>
              <a:srgbClr val="15B8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04304" y="302666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60920" y="29809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2. Retirer un check inutile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903720" y="3575304"/>
            <a:ext cx="310896" cy="310896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04304" y="364845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60920" y="36027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3. Modifier/ajouter une condition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903720" y="4197096"/>
            <a:ext cx="310896" cy="310896"/>
          </a:xfrm>
          <a:prstGeom prst="ellipse">
            <a:avLst/>
          </a:prstGeom>
          <a:solidFill>
            <a:srgbClr val="31A354"/>
          </a:solidFill>
          <a:ln w="12700">
            <a:solidFill>
              <a:srgbClr val="31A3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04304" y="427024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60920" y="42245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4. Relancer et lire passed()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 minimal en Python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Le schéma de base pour lancer une suite tabulaire Deepchecks.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280160"/>
            <a:ext cx="10652760" cy="4434840"/>
          </a:xfrm>
          <a:prstGeom prst="roundRect">
            <a:avLst>
              <a:gd name="adj" fmla="val 164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600200"/>
            <a:ext cx="100126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deepchecks.tabular import Dataset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deepchecks.tabular.suites import data_integrity, train_test_validation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train_ds = Dataset(train_df, label='target', cat_features=['city', 'segment'])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test_ds  = Dataset(test_df,  label='target', cat_features=['city', 'segment'])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1) Qualité d'un seul dataset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result_1 = data_integrity().run(train_ds)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2) Validation du split train/test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result_2 = train_test_validation().run(train_ds, test_ds)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Affichage dans notebook / export HTML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result_2.show()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result_2.save_as_html('deepchecks_report.html')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598932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5C667A"/>
                </a:solidFill>
              </a:rPr>
              <a:t>À adapter : nom du label, features catégorielles, date/index, modèle, seuils des conditions.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Bonnes pratiques et points d’attention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A"/>
                </a:solidFill>
              </a:rPr>
              <a:t>Deepchecks aide à diagnostiquer, mais ne remplace pas l’expertise métier.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6733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6FDB"/>
                </a:solidFill>
              </a:rPr>
              <a:t>Commencer simple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213055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667A"/>
                </a:solidFill>
              </a:rPr>
              <a:t>data_integrity() puis train_test_validation() avant model_evaluation().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6733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134"/>
                </a:solidFill>
              </a:rPr>
              <a:t>Fixer des seuils métier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13055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667A"/>
                </a:solidFill>
              </a:rPr>
              <a:t>Les conditions par défaut sont utiles, mais vos risques dictent les seuils.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68680" y="352044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37764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1A354"/>
                </a:solidFill>
              </a:rPr>
              <a:t>Versionner les rapports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88720" y="423367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667A"/>
                </a:solidFill>
              </a:rPr>
              <a:t>Conserver les résultats HTML avec le modèle et les données.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172200" y="352044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2700" dist="50800" dir="2700000">
              <a:srgbClr val="D5DAE5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7764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C63FF"/>
                </a:solidFill>
              </a:rPr>
              <a:t>Automatiser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423367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667A"/>
                </a:solidFill>
              </a:rPr>
              <a:t>Intégrer passed() dans CI/CD ou pipeline MLOps.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914400" y="589788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</a:rPr>
              <a:t>Conclusion : Deepchecks structure la validation ML sous forme de suites de checks mesurables, conditionnés et automatisables.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67A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658368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400" b="1">
                <a:solidFill>
                  <a:srgbClr val="12274C"/>
                </a:solidFill>
              </a:rPr>
              <a:t>Pricing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74519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0">
                <a:solidFill>
                  <a:srgbClr val="64748B"/>
                </a:solidFill>
              </a:rPr>
              <a:t>Adapter Deepchecks aux règles métier du projet pricing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971800"/>
            <a:ext cx="1874519" cy="713232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Règle métier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</a:p>
        </p:txBody>
      </p:sp>
      <p:cxnSp>
        <p:nvCxnSpPr>
          <p:cNvPr id="6" name="Connector 5"/>
          <p:cNvCxnSpPr/>
          <p:nvPr/>
        </p:nvCxnSpPr>
        <p:spPr>
          <a:xfrm>
            <a:off x="2697480" y="3328416"/>
            <a:ext cx="320040" cy="0"/>
          </a:xfrm>
          <a:prstGeom prst="line">
            <a:avLst/>
          </a:prstGeom>
          <a:ln w="22860">
            <a:solidFill>
              <a:srgbClr val="2B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17520" y="2971800"/>
            <a:ext cx="1874519" cy="713232"/>
          </a:xfrm>
          <a:prstGeom prst="roundRect">
            <a:avLst/>
          </a:prstGeom>
          <a:solidFill>
            <a:srgbClr val="DAF5FA"/>
          </a:solidFill>
          <a:ln w="15240">
            <a:solidFill>
              <a:srgbClr val="DA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Métrique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</a:p>
        </p:txBody>
      </p:sp>
      <p:cxnSp>
        <p:nvCxnSpPr>
          <p:cNvPr id="8" name="Connector 7"/>
          <p:cNvCxnSpPr/>
          <p:nvPr/>
        </p:nvCxnSpPr>
        <p:spPr>
          <a:xfrm>
            <a:off x="4937760" y="3328416"/>
            <a:ext cx="320040" cy="0"/>
          </a:xfrm>
          <a:prstGeom prst="line">
            <a:avLst/>
          </a:prstGeom>
          <a:ln w="22860">
            <a:solidFill>
              <a:srgbClr val="2B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57800" y="2971800"/>
            <a:ext cx="1874519" cy="713232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FF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Seuil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</a:p>
        </p:txBody>
      </p:sp>
      <p:cxnSp>
        <p:nvCxnSpPr>
          <p:cNvPr id="10" name="Connector 9"/>
          <p:cNvCxnSpPr/>
          <p:nvPr/>
        </p:nvCxnSpPr>
        <p:spPr>
          <a:xfrm>
            <a:off x="7178040" y="3328416"/>
            <a:ext cx="320039" cy="0"/>
          </a:xfrm>
          <a:prstGeom prst="line">
            <a:avLst/>
          </a:prstGeom>
          <a:ln w="22860">
            <a:solidFill>
              <a:srgbClr val="2B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79" y="2971800"/>
            <a:ext cx="1874519" cy="713232"/>
          </a:xfrm>
          <a:prstGeom prst="roundRect">
            <a:avLst/>
          </a:prstGeom>
          <a:solidFill>
            <a:srgbClr val="E1F6EB"/>
          </a:solidFill>
          <a:ln w="15240">
            <a:solidFill>
              <a:srgbClr val="E1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Condition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</a:p>
        </p:txBody>
      </p:sp>
      <p:cxnSp>
        <p:nvCxnSpPr>
          <p:cNvPr id="12" name="Connector 11"/>
          <p:cNvCxnSpPr/>
          <p:nvPr/>
        </p:nvCxnSpPr>
        <p:spPr>
          <a:xfrm>
            <a:off x="9418319" y="3328416"/>
            <a:ext cx="320040" cy="0"/>
          </a:xfrm>
          <a:prstGeom prst="line">
            <a:avLst/>
          </a:prstGeom>
          <a:ln w="22860">
            <a:solidFill>
              <a:srgbClr val="2B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38359" y="2971800"/>
            <a:ext cx="1874519" cy="713232"/>
          </a:xfrm>
          <a:prstGeom prst="roundRect">
            <a:avLst/>
          </a:prstGeom>
          <a:solidFill>
            <a:srgbClr val="FFE6E6"/>
          </a:solidFill>
          <a:ln w="15240">
            <a:solidFill>
              <a:srgbClr val="FF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Décision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005840" y="4343400"/>
            <a:ext cx="996696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E293B"/>
                </a:solidFill>
              </a:rPr>
              <a:t>Un pricing check n’est pas seulement du code : c’est une règle de prix transformée en test quantifié, avec un seuil d’acceptation explicite.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3093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B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2700">
                <a:solidFill>
                  <a:srgbClr val="12274C"/>
                </a:solidFill>
              </a:rPr>
              <a:t>Pourquoi des checks spécifiques au pricing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50">
                <a:solidFill>
                  <a:srgbClr val="64748B"/>
                </a:solidFill>
              </a:rPr>
              <a:t>Les checks standards valident les données et le modèle ; les pricing checks valident les règles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093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347472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Ce que Deepchecks couvre déjà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qualité des données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drift entre train et test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performance globale et par segment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erreurs de split ou de fuite de données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520440" cy="347472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2B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Ce que le pricing doit ajouter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respect de la marge minimale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variation de prix acceptable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cohérence entre segments et gammes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stabilité des prix recommandés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règles propres au métier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17320"/>
            <a:ext cx="3246120" cy="3474720"/>
          </a:xfrm>
          <a:prstGeom prst="roundRect">
            <a:avLst/>
          </a:prstGeom>
          <a:solidFill>
            <a:srgbClr val="E1F6EB"/>
          </a:solidFill>
          <a:ln w="15240">
            <a:solidFill>
              <a:srgbClr val="E1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Objectif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</a:defRPr>
            </a:pPr>
            <a:r>
              <a:t>Transformer les contraintes de pricing en garde-fous automatiques avant validation, déploiement ou mise à jour du modèle.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2274C"/>
                </a:solidFill>
              </a:rPr>
              <a:t>Idée clé : un modèle peut avoir une bonne métrique prédictive tout en proposant des prix non acceptables pour le business.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B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2700">
                <a:solidFill>
                  <a:srgbClr val="12274C"/>
                </a:solidFill>
              </a:rPr>
              <a:t>Méthode : définir le check avant de l’implémenter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50">
                <a:solidFill>
                  <a:srgbClr val="64748B"/>
                </a:solidFill>
              </a:rPr>
              <a:t>Pour chaque règle pricing, on formalise d’abord le test, puis seulement ensuite le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093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084831" cy="283464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350">
                <a:solidFill>
                  <a:srgbClr val="12274C"/>
                </a:solidFill>
              </a:rPr>
              <a:t>1. Règle métier</a:t>
            </a:r>
          </a:p>
          <a:p>
            <a:pPr>
              <a:spcAft>
                <a:spcPts val="200"/>
              </a:spcAft>
              <a:defRPr sz="1130">
                <a:solidFill>
                  <a:srgbClr val="1E293B"/>
                </a:solidFill>
              </a:defRPr>
            </a:pPr>
            <a:r>
              <a:t>Ex. aucune recommandation ne doit passer sous la marge minimale.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06039" y="2971800"/>
            <a:ext cx="228600" cy="0"/>
          </a:xfrm>
          <a:prstGeom prst="line">
            <a:avLst/>
          </a:prstGeom>
          <a:ln w="22860">
            <a:solidFill>
              <a:srgbClr val="2B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70632" y="1554480"/>
            <a:ext cx="2084831" cy="2834640"/>
          </a:xfrm>
          <a:prstGeom prst="roundRect">
            <a:avLst/>
          </a:prstGeom>
          <a:solidFill>
            <a:srgbClr val="DAF5FA"/>
          </a:solidFill>
          <a:ln w="15240">
            <a:solidFill>
              <a:srgbClr val="DA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350">
                <a:solidFill>
                  <a:srgbClr val="12274C"/>
                </a:solidFill>
              </a:rPr>
              <a:t>2. Métrique calculée</a:t>
            </a:r>
          </a:p>
          <a:p>
            <a:pPr>
              <a:spcAft>
                <a:spcPts val="200"/>
              </a:spcAft>
              <a:defRPr sz="1130">
                <a:solidFill>
                  <a:srgbClr val="1E293B"/>
                </a:solidFill>
              </a:defRPr>
            </a:pPr>
            <a:r>
              <a:t>Ex. taux de lignes en violation de marge.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73752" y="2971800"/>
            <a:ext cx="228600" cy="0"/>
          </a:xfrm>
          <a:prstGeom prst="line">
            <a:avLst/>
          </a:prstGeom>
          <a:ln w="22860">
            <a:solidFill>
              <a:srgbClr val="2B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38344" y="1554480"/>
            <a:ext cx="2084831" cy="283464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FF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350">
                <a:solidFill>
                  <a:srgbClr val="12274C"/>
                </a:solidFill>
              </a:rPr>
              <a:t>3. Seuil d’alerte</a:t>
            </a:r>
          </a:p>
          <a:p>
            <a:pPr>
              <a:spcAft>
                <a:spcPts val="200"/>
              </a:spcAft>
              <a:defRPr sz="1130">
                <a:solidFill>
                  <a:srgbClr val="1E293B"/>
                </a:solidFill>
              </a:defRPr>
            </a:pPr>
            <a:r>
              <a:t>Ex. warning si &gt; 0,5 %, échec si &gt; 2 %.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41464" y="2971800"/>
            <a:ext cx="228599" cy="0"/>
          </a:xfrm>
          <a:prstGeom prst="line">
            <a:avLst/>
          </a:prstGeom>
          <a:ln w="22860">
            <a:solidFill>
              <a:srgbClr val="2B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06056" y="1554480"/>
            <a:ext cx="2084831" cy="2834640"/>
          </a:xfrm>
          <a:prstGeom prst="roundRect">
            <a:avLst/>
          </a:prstGeom>
          <a:solidFill>
            <a:srgbClr val="E1F6EB"/>
          </a:solidFill>
          <a:ln w="15240">
            <a:solidFill>
              <a:srgbClr val="E1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350">
                <a:solidFill>
                  <a:srgbClr val="12274C"/>
                </a:solidFill>
              </a:rPr>
              <a:t>4. Condition Deepchecks</a:t>
            </a:r>
          </a:p>
          <a:p>
            <a:pPr>
              <a:spcAft>
                <a:spcPts val="200"/>
              </a:spcAft>
              <a:defRPr sz="1130">
                <a:solidFill>
                  <a:srgbClr val="1E293B"/>
                </a:solidFill>
              </a:defRPr>
            </a:pPr>
            <a:r>
              <a:t>La condition compare le résultat au seuil et attribue PASS / WARN / FAIL.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09176" y="2971800"/>
            <a:ext cx="228600" cy="0"/>
          </a:xfrm>
          <a:prstGeom prst="line">
            <a:avLst/>
          </a:prstGeom>
          <a:ln w="22860">
            <a:solidFill>
              <a:srgbClr val="2B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573768" y="1554480"/>
            <a:ext cx="2084831" cy="2834640"/>
          </a:xfrm>
          <a:prstGeom prst="roundRect">
            <a:avLst/>
          </a:prstGeom>
          <a:solidFill>
            <a:srgbClr val="FFE6E6"/>
          </a:solidFill>
          <a:ln w="15240">
            <a:solidFill>
              <a:srgbClr val="FF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350">
                <a:solidFill>
                  <a:srgbClr val="12274C"/>
                </a:solidFill>
              </a:rPr>
              <a:t>5. Action attendue</a:t>
            </a:r>
          </a:p>
          <a:p>
            <a:pPr>
              <a:spcAft>
                <a:spcPts val="200"/>
              </a:spcAft>
              <a:defRPr sz="1130">
                <a:solidFill>
                  <a:srgbClr val="1E293B"/>
                </a:solidFill>
              </a:defRPr>
            </a:pPr>
            <a:r>
              <a:t>Bloquer, corriger, analyser le segment ou demander validation métier.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</a:rPr>
              <a:t>À retenir : le seuil ne doit pas être choisi au hasard. Il se calibre à partir de l’historique, de la tolérance métier et du risque financier.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B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2700">
                <a:solidFill>
                  <a:srgbClr val="12274C"/>
                </a:solidFill>
              </a:rPr>
              <a:t>Pricing check 1 — Respect de la marge minimale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50">
                <a:solidFill>
                  <a:srgbClr val="64748B"/>
                </a:solidFill>
              </a:rPr>
              <a:t>But : empêcher les prix recommandés de générer une marge trop faible.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093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108960" cy="32918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Données nécessaires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prix recommandé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coût unitaire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marge minimale attendue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</a:defRPr>
            </a:pPr>
            <a:r>
              <a:t>• produit, segment, canal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417320"/>
            <a:ext cx="3657600" cy="329184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2B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Métrique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  <a:r>
              <a:t>marge = (prix − coût) / prix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  <a:r>
              <a:t>taux_violation = nombre de lignes sous marge minimale / nombre total de lignes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417320"/>
            <a:ext cx="3520440" cy="3291840"/>
          </a:xfrm>
          <a:prstGeom prst="roundRect">
            <a:avLst/>
          </a:prstGeom>
          <a:solidFill>
            <a:srgbClr val="FFE6E6"/>
          </a:solidFill>
          <a:ln w="15240">
            <a:solidFill>
              <a:srgbClr val="FF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Condition d’échec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PASS : taux ≤ 0,5 %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WARN : 0,5 % &lt; taux ≤ 2 %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FAIL : taux &gt; 2 %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Analyse par segment si WARN ou FAIL.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50" b="1">
                <a:solidFill>
                  <a:srgbClr val="12274C"/>
                </a:solidFill>
              </a:rPr>
              <a:t>Exemple de lecture : si 3 % des prix recommandés sont sous la marge minimale, le check échoue même si la performance du modèle est bonne.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B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2700">
                <a:solidFill>
                  <a:srgbClr val="12274C"/>
                </a:solidFill>
              </a:rPr>
              <a:t>Pricing check 2 — Variation de prix contrôlée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50">
                <a:solidFill>
                  <a:srgbClr val="64748B"/>
                </a:solidFill>
              </a:rPr>
              <a:t>But : éviter les hausses ou baisses trop brusques par rapport au prix de référence.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093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108960" cy="25146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Règle métier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  <a:r>
              <a:t>Un prix recommandé ne doit pas s’écarter excessivement du prix actuel, sauf exception validée.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417320"/>
            <a:ext cx="3657600" cy="2514600"/>
          </a:xfrm>
          <a:prstGeom prst="roundRect">
            <a:avLst/>
          </a:prstGeom>
          <a:solidFill>
            <a:srgbClr val="DAF5FA"/>
          </a:solidFill>
          <a:ln w="15240">
            <a:solidFill>
              <a:srgbClr val="DA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Mesure</a:t>
            </a:r>
          </a:p>
          <a:p>
            <a:pPr>
              <a:spcAft>
                <a:spcPts val="200"/>
              </a:spcAft>
              <a:defRPr sz="1240">
                <a:solidFill>
                  <a:srgbClr val="1E293B"/>
                </a:solidFill>
              </a:defRPr>
            </a:pPr>
            <a:r>
              <a:t>variation = (prix_recommandé − prix_actuel) / prix_actuel</a:t>
            </a:r>
          </a:p>
          <a:p>
            <a:pPr>
              <a:spcAft>
                <a:spcPts val="200"/>
              </a:spcAft>
              <a:defRPr sz="124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240">
                <a:solidFill>
                  <a:srgbClr val="1E293B"/>
                </a:solidFill>
              </a:defRPr>
            </a:pPr>
            <a:r>
              <a:t>On calcule :</a:t>
            </a:r>
          </a:p>
          <a:p>
            <a:pPr>
              <a:spcAft>
                <a:spcPts val="200"/>
              </a:spcAft>
              <a:defRPr sz="1240">
                <a:solidFill>
                  <a:srgbClr val="1E293B"/>
                </a:solidFill>
              </a:defRPr>
            </a:pPr>
            <a:r>
              <a:t>• % de variations au-delà du seuil</a:t>
            </a:r>
          </a:p>
          <a:p>
            <a:pPr>
              <a:spcAft>
                <a:spcPts val="200"/>
              </a:spcAft>
              <a:defRPr sz="1240">
                <a:solidFill>
                  <a:srgbClr val="1E293B"/>
                </a:solidFill>
              </a:defRPr>
            </a:pPr>
            <a:r>
              <a:t>• moyenne et percentile 95 par segment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417320"/>
            <a:ext cx="3520440" cy="251460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FF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Seuils possibles</a:t>
            </a:r>
          </a:p>
          <a:p>
            <a:pPr>
              <a:spcAft>
                <a:spcPts val="200"/>
              </a:spcAft>
              <a:defRPr sz="1210">
                <a:solidFill>
                  <a:srgbClr val="1E293B"/>
                </a:solidFill>
              </a:defRPr>
            </a:pPr>
            <a:r>
              <a:t>• FAIL si plus de 5 % des produits varient de ±15 %</a:t>
            </a:r>
          </a:p>
          <a:p>
            <a:pPr>
              <a:spcAft>
                <a:spcPts val="200"/>
              </a:spcAft>
              <a:defRPr sz="1210">
                <a:solidFill>
                  <a:srgbClr val="1E293B"/>
                </a:solidFill>
              </a:defRPr>
            </a:pPr>
            <a:r>
              <a:t>• WARN si un segment dépasse ±10 % en médiane</a:t>
            </a:r>
          </a:p>
          <a:p>
            <a:pPr>
              <a:spcAft>
                <a:spcPts val="200"/>
              </a:spcAft>
              <a:defRPr sz="1210">
                <a:solidFill>
                  <a:srgbClr val="1E293B"/>
                </a:solidFill>
              </a:defRPr>
            </a:pPr>
            <a:r>
              <a:t>• exception possible pour promotions ou changements de coût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4572000"/>
            <a:ext cx="9692640" cy="914400"/>
          </a:xfrm>
          <a:prstGeom prst="roundRect">
            <a:avLst/>
          </a:prstGeom>
          <a:solidFill>
            <a:srgbClr val="E1F6EB"/>
          </a:solidFill>
          <a:ln w="15240">
            <a:solidFill>
              <a:srgbClr val="E1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Pourquoi c’est important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</a:defRPr>
            </a:pPr>
            <a:r>
              <a:t>Une variation trop forte peut dégrader la perception client, créer des incohérences commerciales ou nécessiter une validation manuelle.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B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2700">
                <a:solidFill>
                  <a:srgbClr val="12274C"/>
                </a:solidFill>
              </a:rPr>
              <a:t>Pricing check 3 — Cohérence entre gammes et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50">
                <a:solidFill>
                  <a:srgbClr val="64748B"/>
                </a:solidFill>
              </a:rPr>
              <a:t>But : vérifier que les prix restent cohérents avec la logique commerciale.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093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657600" cy="29718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2B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Exemples de règles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• Premium ≥ Standard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• Pack annuel ≤ 12 × pack mensuel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• Canal B2B cohérent avec canal B2C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• Segment sensible limité en hausse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325880"/>
            <a:ext cx="3474720" cy="29718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Métrique du check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  <a:r>
              <a:t>Le check compte les inversions de logique de prix :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  <a:r>
              <a:t>nb_inversions, taux_inversion, produits concernés et segments impactés.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325880"/>
            <a:ext cx="3246120" cy="2971800"/>
          </a:xfrm>
          <a:prstGeom prst="roundRect">
            <a:avLst/>
          </a:prstGeom>
          <a:solidFill>
            <a:srgbClr val="FFE6E6"/>
          </a:solidFill>
          <a:ln w="15240">
            <a:solidFill>
              <a:srgbClr val="FF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Condition</a:t>
            </a:r>
          </a:p>
          <a:p>
            <a:pPr>
              <a:spcAft>
                <a:spcPts val="200"/>
              </a:spcAft>
              <a:defRPr sz="1240">
                <a:solidFill>
                  <a:srgbClr val="1E293B"/>
                </a:solidFill>
              </a:defRPr>
            </a:pPr>
            <a:r>
              <a:t>FAIL si une règle critique est violée.</a:t>
            </a:r>
          </a:p>
          <a:p>
            <a:pPr>
              <a:spcAft>
                <a:spcPts val="200"/>
              </a:spcAft>
              <a:defRPr sz="1240">
                <a:solidFill>
                  <a:srgbClr val="1E293B"/>
                </a:solidFill>
              </a:defRPr>
            </a:pPr>
            <a:r>
              <a:t>WARN si le taux d’inversion dépasse un seuil faible, par exemple 1 %.</a:t>
            </a:r>
          </a:p>
          <a:p>
            <a:pPr>
              <a:spcAft>
                <a:spcPts val="200"/>
              </a:spcAft>
              <a:defRPr sz="1240">
                <a:solidFill>
                  <a:srgbClr val="1E293B"/>
                </a:solidFill>
              </a:defRPr>
            </a:pPr>
          </a:p>
          <a:p>
            <a:pPr>
              <a:spcAft>
                <a:spcPts val="200"/>
              </a:spcAft>
              <a:defRPr sz="1240">
                <a:solidFill>
                  <a:srgbClr val="1E293B"/>
                </a:solidFill>
              </a:defRPr>
            </a:pPr>
            <a:r>
              <a:t>Le rapport doit lister les cas à corriger.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327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2274C"/>
                </a:solidFill>
              </a:rPr>
              <a:t>Ce check est très métier : il dépend directement de la stratégie pricing, du catalogue et des exceptions commerciales acceptées.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B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2700">
                <a:solidFill>
                  <a:srgbClr val="12274C"/>
                </a:solidFill>
              </a:rPr>
              <a:t>Pricing check 4 — Stabilité et dérive des prix recommandés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50">
                <a:solidFill>
                  <a:srgbClr val="64748B"/>
                </a:solidFill>
              </a:rPr>
              <a:t>But : détecter une modification anormale de la distribution des prix avant déploiement.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093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74720" cy="32918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Comparer deux distributions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On compare les prix recommandés du nouveau run avec :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• le run précédent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• le modèle en production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• une période de référence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474720" cy="3291840"/>
          </a:xfrm>
          <a:prstGeom prst="roundRect">
            <a:avLst/>
          </a:prstGeom>
          <a:solidFill>
            <a:srgbClr val="DAF5FA"/>
          </a:solidFill>
          <a:ln w="15240">
            <a:solidFill>
              <a:srgbClr val="DA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Indicateurs utiles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• écart de moyenne par segment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• écart de médiane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• variation du percentile 95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• part des produits dont le prix change fortement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325880"/>
            <a:ext cx="3429000" cy="329184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FF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Condition d’échec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  <a:r>
              <a:t>FAIL si la distribution change fortement sans explication métier.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  <a:r>
              <a:t>WARN si seuls certains segments dérivent et nécessitent une revue.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6070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2274C"/>
                </a:solidFill>
              </a:rPr>
              <a:t>Ce check complète le drift de données : il vérifie la stabilité de la décision pricing, pas seulement la stabilité des variables d’entrée.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B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2700">
                <a:solidFill>
                  <a:srgbClr val="12274C"/>
                </a:solidFill>
              </a:rPr>
              <a:t>Implémenter un pricing check dans Deepchecks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50">
                <a:solidFill>
                  <a:srgbClr val="64748B"/>
                </a:solidFill>
              </a:rPr>
              <a:t>Le check calcule un résultat lisible ; la condition décide si ce résultat est acceptable.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093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623560" cy="3977639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/>
            <a:r>
              <a:rPr sz="1150">
                <a:solidFill>
                  <a:srgbClr val="FFFFFF"/>
                </a:solidFill>
                <a:latin typeface="Consolas"/>
              </a:rPr>
              <a:t>class PricingMarginCheck(SingleDatasetCheck):
    def run_logic(self, context):
        df = context.get_data_by_kind('original').data
        margin = (df['recommended_price'] - df['unit_cost']) / df['recommended_price']
        violation_rate = (margin &lt; df['min_margin']).mean()
        return CheckResult(value={'violation_rate': violation_rate})
# Condition métier : FAIL si violation_rate &gt; seuil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325880"/>
            <a:ext cx="4572000" cy="3977639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2B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Bonnes pratiques</a:t>
            </a:r>
          </a:p>
          <a:p>
            <a:pPr>
              <a:spcAft>
                <a:spcPts val="200"/>
              </a:spcAft>
              <a:defRPr sz="1210">
                <a:solidFill>
                  <a:srgbClr val="1E293B"/>
                </a:solidFill>
              </a:defRPr>
            </a:pPr>
            <a:r>
              <a:t>1. Donner un nom métier au check.</a:t>
            </a:r>
          </a:p>
          <a:p>
            <a:pPr>
              <a:spcAft>
                <a:spcPts val="200"/>
              </a:spcAft>
              <a:defRPr sz="1210">
                <a:solidFill>
                  <a:srgbClr val="1E293B"/>
                </a:solidFill>
              </a:defRPr>
            </a:pPr>
            <a:r>
              <a:t>2. Retourner une métrique simple à lire.</a:t>
            </a:r>
          </a:p>
          <a:p>
            <a:pPr>
              <a:spcAft>
                <a:spcPts val="200"/>
              </a:spcAft>
              <a:defRPr sz="1210">
                <a:solidFill>
                  <a:srgbClr val="1E293B"/>
                </a:solidFill>
              </a:defRPr>
            </a:pPr>
            <a:r>
              <a:t>3. Ajouter les lignes en anomalie dans le rapport.</a:t>
            </a:r>
          </a:p>
          <a:p>
            <a:pPr>
              <a:spcAft>
                <a:spcPts val="200"/>
              </a:spcAft>
              <a:defRPr sz="1210">
                <a:solidFill>
                  <a:srgbClr val="1E293B"/>
                </a:solidFill>
              </a:defRPr>
            </a:pPr>
            <a:r>
              <a:t>4. Séparer le calcul du seuil : le seuil appartient à la condition.</a:t>
            </a:r>
          </a:p>
          <a:p>
            <a:pPr>
              <a:spcAft>
                <a:spcPts val="200"/>
              </a:spcAft>
              <a:defRPr sz="1210">
                <a:solidFill>
                  <a:srgbClr val="1E293B"/>
                </a:solidFill>
              </a:defRPr>
            </a:pPr>
            <a:r>
              <a:t>5. Documenter les hypothèses et exceptions.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B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2700">
                <a:solidFill>
                  <a:srgbClr val="12274C"/>
                </a:solidFill>
              </a:rPr>
              <a:t>Construire une suite Pricing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50">
                <a:solidFill>
                  <a:srgbClr val="64748B"/>
                </a:solidFill>
              </a:rPr>
              <a:t>La suite regroupe les checks standards Deepchecks et les contrôles pricing propres au projet.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093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429000" cy="356616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2B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Suite recommandée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  <a:r>
              <a:t>Data integrity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  <a:r>
              <a:t>+ Train/test validation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  <a:r>
              <a:t>+ PricingMarginCheck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  <a:r>
              <a:t>+ PriceVariationCheck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  <a:r>
              <a:t>+ SegmentCoherenceCheck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  <a:r>
              <a:t>+ PriceStabilityCheck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29000" cy="356616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FF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Avant le premier déploiement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  <a:r>
              <a:t>Calibrer les seuils avec l’historique : on observe les distributions, les erreurs passées et le coût business d’une anomalie.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371600"/>
            <a:ext cx="3429000" cy="3566160"/>
          </a:xfrm>
          <a:prstGeom prst="roundRect">
            <a:avLst/>
          </a:prstGeom>
          <a:solidFill>
            <a:srgbClr val="E1F6EB"/>
          </a:solidFill>
          <a:ln w="15240">
            <a:solidFill>
              <a:srgbClr val="E1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Dans le pipeline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  <a:r>
              <a:t>À chaque run : calcul des checks, génération du rapport, décision PASS / WARN / FAIL, puis validation automatique ou revue métier.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2274C"/>
                </a:solidFill>
              </a:rPr>
              <a:t>Conclusion : pour le projet pricing, les custom checks doivent être conçus comme des règles de décision mesurables, pas comme de simples scripts techniques.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B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2700">
                <a:solidFill>
                  <a:srgbClr val="12274C"/>
                </a:solidFill>
              </a:rPr>
              <a:t>Sources et références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50">
                <a:solidFill>
                  <a:srgbClr val="64748B"/>
                </a:solidFill>
              </a:rPr>
              <a:t>Documentation principale utilisée pour cadrer les notions Deepchecks.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093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10515600" cy="9144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Deepchecks — documentation tabulaire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https://docs.deepchecks.com/stable/tabular/index.html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10515600" cy="9144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Deepchecks — création de custom checks</a:t>
            </a:r>
          </a:p>
          <a:p>
            <a:pPr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https://docs.deepchecks.com/stable/tabular/auto_tutorials/other/plot_add_a_custom_check.html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49039"/>
            <a:ext cx="10515600" cy="914400"/>
          </a:xfrm>
          <a:prstGeom prst="roundRect">
            <a:avLst/>
          </a:prstGeom>
          <a:solidFill>
            <a:srgbClr val="E1F6EB"/>
          </a:solidFill>
          <a:ln w="15240">
            <a:solidFill>
              <a:srgbClr val="E1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12274C"/>
                </a:solidFill>
              </a:rPr>
              <a:t>À adapter au projet pricing</a:t>
            </a:r>
          </a:p>
          <a:p>
            <a:pPr>
              <a:spcAft>
                <a:spcPts val="200"/>
              </a:spcAft>
              <a:defRPr sz="1350">
                <a:solidFill>
                  <a:srgbClr val="1E293B"/>
                </a:solidFill>
              </a:defRPr>
            </a:pPr>
            <a:r>
              <a:t>Les seuils doivent être validés avec l’équipe métier : finance, pricing, produit, data science et opérations commerciales.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557784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12274C"/>
                </a:solidFill>
              </a:rPr>
              <a:t>Fin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Deepchecks et données tabulaires</dc:title>
  <dc:subject>Présentation Deepchecks pour données tabulaires</dc:subject>
  <dc:creator>OpenAI</dc:creator>
  <cp:lastModifiedBy>OpenAI</cp:lastModifiedBy>
  <cp:revision>1</cp:revision>
  <dcterms:created xsi:type="dcterms:W3CDTF">2026-05-11T22:23:38Z</dcterms:created>
  <dcterms:modified xsi:type="dcterms:W3CDTF">2026-05-11T22:23:38Z</dcterms:modified>
</cp:coreProperties>
</file>