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A99D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201168"/>
            <a:ext cx="685800" cy="685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182880"/>
            <a:ext cx="7589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PricingChecks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457200" y="137160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package Python basé sur Deepchecks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spécialement conçu pour les projets Pricing de l'équipe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502920" y="2651760"/>
            <a:ext cx="2560320" cy="1417320"/>
          </a:xfrm>
          <a:prstGeom prst="rect">
            <a:avLst/>
          </a:prstGeom>
          <a:solidFill>
            <a:srgbClr val="1E3A5F"/>
          </a:solidFill>
          <a:ln w="12700">
            <a:solidFill>
              <a:srgbClr val="00A99D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4480" y="2743200"/>
            <a:ext cx="457200" cy="4572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02920" y="329184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Qualité des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3337560" y="2651760"/>
            <a:ext cx="2560320" cy="1417320"/>
          </a:xfrm>
          <a:prstGeom prst="rect">
            <a:avLst/>
          </a:prstGeom>
          <a:solidFill>
            <a:srgbClr val="1E3A5F"/>
          </a:solidFill>
          <a:ln w="12700">
            <a:solidFill>
              <a:srgbClr val="00A99D"/>
            </a:solidFill>
            <a:prstDash val="solid"/>
          </a:ln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0" y="2743200"/>
            <a:ext cx="457200" cy="4572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3337560" y="329184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modèles</a:t>
            </a:r>
            <a:endParaRPr lang="en-US" sz="1200" dirty="0"/>
          </a:p>
        </p:txBody>
      </p:sp>
      <p:sp>
        <p:nvSpPr>
          <p:cNvPr id="12" name="Shape 7"/>
          <p:cNvSpPr/>
          <p:nvPr/>
        </p:nvSpPr>
        <p:spPr>
          <a:xfrm>
            <a:off x="6172200" y="2651760"/>
            <a:ext cx="2560320" cy="1417320"/>
          </a:xfrm>
          <a:prstGeom prst="rect">
            <a:avLst/>
          </a:prstGeom>
          <a:solidFill>
            <a:srgbClr val="1E3A5F"/>
          </a:solidFill>
          <a:ln w="12700">
            <a:solidFill>
              <a:srgbClr val="00A99D"/>
            </a:solidFill>
            <a:prstDash val="solid"/>
          </a:ln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3760" y="2743200"/>
            <a:ext cx="457200" cy="4572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172200" y="329184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Règles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métier Pricing</a:t>
            </a:r>
            <a:endParaRPr lang="en-US" sz="1200" dirty="0"/>
          </a:p>
        </p:txBody>
      </p:sp>
      <p:sp>
        <p:nvSpPr>
          <p:cNvPr id="15" name="Shape 9"/>
          <p:cNvSpPr/>
          <p:nvPr/>
        </p:nvSpPr>
        <p:spPr>
          <a:xfrm>
            <a:off x="0" y="4526280"/>
            <a:ext cx="9144000" cy="621792"/>
          </a:xfrm>
          <a:prstGeom prst="rect">
            <a:avLst/>
          </a:prstGeom>
          <a:solidFill>
            <a:srgbClr val="007F7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0"/>
          <p:cNvSpPr/>
          <p:nvPr/>
        </p:nvSpPr>
        <p:spPr>
          <a:xfrm>
            <a:off x="0" y="4526280"/>
            <a:ext cx="91440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Extension Deepchecks  •  Checks personnalisés  •  Suites prêtes à l'emploi  •  Intégration CI/CD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Sommaire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56032" y="850392"/>
            <a:ext cx="4206240" cy="1234440"/>
          </a:xfrm>
          <a:prstGeom prst="rect">
            <a:avLst/>
          </a:prstGeom>
          <a:solidFill>
            <a:srgbClr val="CBD5E1">
              <a:alpha val="5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" y="822960"/>
            <a:ext cx="420624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822960"/>
            <a:ext cx="54864" cy="1234440"/>
          </a:xfrm>
          <a:prstGeom prst="rect">
            <a:avLst/>
          </a:prstGeom>
          <a:solidFill>
            <a:srgbClr val="00A99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01752" y="896112"/>
            <a:ext cx="548640" cy="548640"/>
          </a:xfrm>
          <a:prstGeom prst="rect">
            <a:avLst/>
          </a:prstGeom>
          <a:solidFill>
            <a:srgbClr val="00A99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01752" y="8961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60120" y="896112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 &amp; Problématique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60120" y="1371600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ce package a été créé ?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90872" y="850392"/>
            <a:ext cx="4206240" cy="1234440"/>
          </a:xfrm>
          <a:prstGeom prst="rect">
            <a:avLst/>
          </a:prstGeom>
          <a:solidFill>
            <a:srgbClr val="CBD5E1">
              <a:alpha val="5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63440" y="822960"/>
            <a:ext cx="420624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63440" y="822960"/>
            <a:ext cx="54864" cy="1234440"/>
          </a:xfrm>
          <a:prstGeom prst="rect">
            <a:avLst/>
          </a:prstGeom>
          <a:solidFill>
            <a:srgbClr val="00A99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36592" y="896112"/>
            <a:ext cx="548640" cy="548640"/>
          </a:xfrm>
          <a:prstGeom prst="rect">
            <a:avLst/>
          </a:prstGeom>
          <a:solidFill>
            <a:srgbClr val="00A99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36592" y="8961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394960" y="896112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394960" y="1371600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4 axes principaux du projet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56032" y="2240280"/>
            <a:ext cx="4206240" cy="1234440"/>
          </a:xfrm>
          <a:prstGeom prst="rect">
            <a:avLst/>
          </a:prstGeom>
          <a:solidFill>
            <a:srgbClr val="CBD5E1">
              <a:alpha val="5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8600" y="2212848"/>
            <a:ext cx="420624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28600" y="2212848"/>
            <a:ext cx="54864" cy="1234440"/>
          </a:xfrm>
          <a:prstGeom prst="rect">
            <a:avLst/>
          </a:prstGeom>
          <a:solidFill>
            <a:srgbClr val="1B2A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01752" y="2286000"/>
            <a:ext cx="548640" cy="548640"/>
          </a:xfrm>
          <a:prstGeom prst="rect">
            <a:avLst/>
          </a:prstGeom>
          <a:solidFill>
            <a:srgbClr val="1B2A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01752" y="2286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960120" y="2286000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Choix Technologiques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60120" y="2761488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Deepchecks, architecture, alternatives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690872" y="2240280"/>
            <a:ext cx="4206240" cy="1234440"/>
          </a:xfrm>
          <a:prstGeom prst="rect">
            <a:avLst/>
          </a:prstGeom>
          <a:solidFill>
            <a:srgbClr val="CBD5E1">
              <a:alpha val="5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663440" y="2212848"/>
            <a:ext cx="420624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663440" y="2212848"/>
            <a:ext cx="54864" cy="1234440"/>
          </a:xfrm>
          <a:prstGeom prst="rect">
            <a:avLst/>
          </a:prstGeom>
          <a:solidFill>
            <a:srgbClr val="1B2A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736592" y="2286000"/>
            <a:ext cx="548640" cy="548640"/>
          </a:xfrm>
          <a:prstGeom prst="rect">
            <a:avLst/>
          </a:prstGeom>
          <a:solidFill>
            <a:srgbClr val="1B2A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36592" y="2286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5394960" y="2286000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Contenu du Package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394960" y="2761488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Checks, suites, structure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256032" y="3630168"/>
            <a:ext cx="4206240" cy="1234440"/>
          </a:xfrm>
          <a:prstGeom prst="rect">
            <a:avLst/>
          </a:prstGeom>
          <a:solidFill>
            <a:srgbClr val="CBD5E1">
              <a:alpha val="5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28600" y="3602736"/>
            <a:ext cx="420624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28600" y="3602736"/>
            <a:ext cx="54864" cy="1234440"/>
          </a:xfrm>
          <a:prstGeom prst="rect">
            <a:avLst/>
          </a:prstGeom>
          <a:solidFill>
            <a:srgbClr val="00A99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01752" y="3675888"/>
            <a:ext cx="548640" cy="548640"/>
          </a:xfrm>
          <a:prstGeom prst="rect">
            <a:avLst/>
          </a:prstGeom>
          <a:solidFill>
            <a:srgbClr val="00A99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01752" y="36758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960120" y="3675888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Exemple d'Utilisation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960120" y="4151376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Code, rapport, intégration pipeline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690872" y="3630168"/>
            <a:ext cx="4206240" cy="1234440"/>
          </a:xfrm>
          <a:prstGeom prst="rect">
            <a:avLst/>
          </a:prstGeom>
          <a:solidFill>
            <a:srgbClr val="CBD5E1">
              <a:alpha val="5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663440" y="3602736"/>
            <a:ext cx="420624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663440" y="3602736"/>
            <a:ext cx="54864" cy="1234440"/>
          </a:xfrm>
          <a:prstGeom prst="rect">
            <a:avLst/>
          </a:prstGeom>
          <a:solidFill>
            <a:srgbClr val="00A99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736592" y="3675888"/>
            <a:ext cx="548640" cy="548640"/>
          </a:xfrm>
          <a:prstGeom prst="rect">
            <a:avLst/>
          </a:prstGeom>
          <a:solidFill>
            <a:srgbClr val="00A99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736592" y="36758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800" dirty="0"/>
          </a:p>
        </p:txBody>
      </p:sp>
      <p:sp>
        <p:nvSpPr>
          <p:cNvPr id="44" name="Text 42"/>
          <p:cNvSpPr/>
          <p:nvPr/>
        </p:nvSpPr>
        <p:spPr>
          <a:xfrm>
            <a:off x="5394960" y="3675888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&amp; Contribution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5394960" y="4151376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Prochaines étapes &amp; comment contribuer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0" cy="685800"/>
          </a:xfrm>
          <a:prstGeom prst="rect">
            <a:avLst/>
          </a:prstGeom>
          <a:solidFill>
            <a:srgbClr val="00A99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0"/>
            <a:ext cx="640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 &amp; Problématique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228600" y="822960"/>
            <a:ext cx="4114800" cy="384048"/>
          </a:xfrm>
          <a:prstGeom prst="rect">
            <a:avLst/>
          </a:prstGeom>
          <a:solidFill>
            <a:srgbClr val="EF44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822960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Avant PricingChecks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28600" y="1298448"/>
            <a:ext cx="4114800" cy="530352"/>
          </a:xfrm>
          <a:prstGeom prst="rect">
            <a:avLst/>
          </a:prstGeom>
          <a:solidFill>
            <a:srgbClr val="FEF2F2"/>
          </a:solidFill>
          <a:ln w="6350">
            <a:solidFill>
              <a:srgbClr val="FECACA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7472" y="1389888"/>
            <a:ext cx="274320" cy="2743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13232" y="1298448"/>
            <a:ext cx="3520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projet écrivait ses propres validations from scratch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228600" y="1892808"/>
            <a:ext cx="411480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FECACA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1984248"/>
            <a:ext cx="274320" cy="2743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13232" y="1892808"/>
            <a:ext cx="3520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Résultats inconsistants d'un projet à l'autre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228600" y="2487168"/>
            <a:ext cx="4114800" cy="530352"/>
          </a:xfrm>
          <a:prstGeom prst="rect">
            <a:avLst/>
          </a:prstGeom>
          <a:solidFill>
            <a:srgbClr val="FEF2F2"/>
          </a:solidFill>
          <a:ln w="6350">
            <a:solidFill>
              <a:srgbClr val="FECACA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" y="2578608"/>
            <a:ext cx="274320" cy="27432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713232" y="2487168"/>
            <a:ext cx="3520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Aucune détection automatique de dérive des prix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228600" y="3081528"/>
            <a:ext cx="411480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FECACA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472" y="3172968"/>
            <a:ext cx="274320" cy="27432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713232" y="3081528"/>
            <a:ext cx="3520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Temps perdu à redévelopper les mêmes checks</a:t>
            </a:r>
            <a:endParaRPr lang="en-US" sz="1050" dirty="0"/>
          </a:p>
        </p:txBody>
      </p:sp>
      <p:sp>
        <p:nvSpPr>
          <p:cNvPr id="20" name="Shape 14"/>
          <p:cNvSpPr/>
          <p:nvPr/>
        </p:nvSpPr>
        <p:spPr>
          <a:xfrm>
            <a:off x="228600" y="3675888"/>
            <a:ext cx="4114800" cy="530352"/>
          </a:xfrm>
          <a:prstGeom prst="rect">
            <a:avLst/>
          </a:prstGeom>
          <a:solidFill>
            <a:srgbClr val="FEF2F2"/>
          </a:solidFill>
          <a:ln w="6350">
            <a:solidFill>
              <a:srgbClr val="FECACA"/>
            </a:solidFill>
            <a:prstDash val="solid"/>
          </a:ln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7472" y="3767328"/>
            <a:ext cx="274320" cy="27432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713232" y="3675888"/>
            <a:ext cx="3520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 rapport partageable avec les stakeholders</a:t>
            </a:r>
            <a:endParaRPr lang="en-US" sz="1050" dirty="0"/>
          </a:p>
        </p:txBody>
      </p:sp>
      <p:sp>
        <p:nvSpPr>
          <p:cNvPr id="23" name="Text 16"/>
          <p:cNvSpPr/>
          <p:nvPr/>
        </p:nvSpPr>
        <p:spPr>
          <a:xfrm>
            <a:off x="4389120" y="2468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A99D"/>
                </a:solidFill>
              </a:rPr>
              <a:t>➜</a:t>
            </a:r>
            <a:endParaRPr lang="en-US" sz="2400" dirty="0"/>
          </a:p>
        </p:txBody>
      </p:sp>
      <p:sp>
        <p:nvSpPr>
          <p:cNvPr id="24" name="Shape 17"/>
          <p:cNvSpPr/>
          <p:nvPr/>
        </p:nvSpPr>
        <p:spPr>
          <a:xfrm>
            <a:off x="4800600" y="822960"/>
            <a:ext cx="4114800" cy="384048"/>
          </a:xfrm>
          <a:prstGeom prst="rect">
            <a:avLst/>
          </a:prstGeom>
          <a:solidFill>
            <a:srgbClr val="00A99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18"/>
          <p:cNvSpPr/>
          <p:nvPr/>
        </p:nvSpPr>
        <p:spPr>
          <a:xfrm>
            <a:off x="4800600" y="822960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Avec PricingChecks</a:t>
            </a:r>
            <a:endParaRPr lang="en-US" sz="1300" dirty="0"/>
          </a:p>
        </p:txBody>
      </p:sp>
      <p:sp>
        <p:nvSpPr>
          <p:cNvPr id="26" name="Shape 19"/>
          <p:cNvSpPr/>
          <p:nvPr/>
        </p:nvSpPr>
        <p:spPr>
          <a:xfrm>
            <a:off x="4800600" y="1298448"/>
            <a:ext cx="4114800" cy="530352"/>
          </a:xfrm>
          <a:prstGeom prst="rect">
            <a:avLst/>
          </a:prstGeom>
          <a:solidFill>
            <a:srgbClr val="F0FDF4"/>
          </a:solidFill>
          <a:ln w="6350">
            <a:solidFill>
              <a:srgbClr val="BBF7D0"/>
            </a:solidFill>
            <a:prstDash val="solid"/>
          </a:ln>
        </p:spPr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19472" y="1389888"/>
            <a:ext cx="274320" cy="274320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5285232" y="1298448"/>
            <a:ext cx="3520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 centralisé installable via pip en 1 commande</a:t>
            </a:r>
            <a:endParaRPr lang="en-US" sz="1050" dirty="0"/>
          </a:p>
        </p:txBody>
      </p:sp>
      <p:sp>
        <p:nvSpPr>
          <p:cNvPr id="29" name="Shape 21"/>
          <p:cNvSpPr/>
          <p:nvPr/>
        </p:nvSpPr>
        <p:spPr>
          <a:xfrm>
            <a:off x="4800600" y="1892808"/>
            <a:ext cx="411480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BBF7D0"/>
            </a:solidFill>
            <a:prstDash val="solid"/>
          </a:ln>
        </p:spPr>
      </p:sp>
      <p:pic>
        <p:nvPicPr>
          <p:cNvPr id="3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19472" y="1984248"/>
            <a:ext cx="274320" cy="274320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5285232" y="1892808"/>
            <a:ext cx="3520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 unifiés sur tous les projets Pricing</a:t>
            </a:r>
            <a:endParaRPr lang="en-US" sz="1050" dirty="0"/>
          </a:p>
        </p:txBody>
      </p:sp>
      <p:sp>
        <p:nvSpPr>
          <p:cNvPr id="32" name="Shape 23"/>
          <p:cNvSpPr/>
          <p:nvPr/>
        </p:nvSpPr>
        <p:spPr>
          <a:xfrm>
            <a:off x="4800600" y="2487168"/>
            <a:ext cx="4114800" cy="530352"/>
          </a:xfrm>
          <a:prstGeom prst="rect">
            <a:avLst/>
          </a:prstGeom>
          <a:solidFill>
            <a:srgbClr val="F0FDF4"/>
          </a:solidFill>
          <a:ln w="6350">
            <a:solidFill>
              <a:srgbClr val="BBF7D0"/>
            </a:solidFill>
            <a:prstDash val="solid"/>
          </a:ln>
        </p:spPr>
      </p:sp>
      <p:pic>
        <p:nvPicPr>
          <p:cNvPr id="3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19472" y="2578608"/>
            <a:ext cx="274320" cy="274320"/>
          </a:xfrm>
          <a:prstGeom prst="rect">
            <a:avLst/>
          </a:prstGeom>
        </p:spPr>
      </p:pic>
      <p:sp>
        <p:nvSpPr>
          <p:cNvPr id="34" name="Text 24"/>
          <p:cNvSpPr/>
          <p:nvPr/>
        </p:nvSpPr>
        <p:spPr>
          <a:xfrm>
            <a:off x="5285232" y="2487168"/>
            <a:ext cx="3520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Détection automatique dérive, outliers, incohérences</a:t>
            </a:r>
            <a:endParaRPr lang="en-US" sz="1050" dirty="0"/>
          </a:p>
        </p:txBody>
      </p:sp>
      <p:sp>
        <p:nvSpPr>
          <p:cNvPr id="35" name="Shape 25"/>
          <p:cNvSpPr/>
          <p:nvPr/>
        </p:nvSpPr>
        <p:spPr>
          <a:xfrm>
            <a:off x="4800600" y="3081528"/>
            <a:ext cx="411480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BBF7D0"/>
            </a:solidFill>
            <a:prstDash val="solid"/>
          </a:ln>
        </p:spPr>
      </p:sp>
      <p:pic>
        <p:nvPicPr>
          <p:cNvPr id="36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19472" y="3172968"/>
            <a:ext cx="274320" cy="27432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5285232" y="3081528"/>
            <a:ext cx="3520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Réutilisation immédiate des checks existants</a:t>
            </a:r>
            <a:endParaRPr lang="en-US" sz="1050" dirty="0"/>
          </a:p>
        </p:txBody>
      </p:sp>
      <p:sp>
        <p:nvSpPr>
          <p:cNvPr id="38" name="Shape 27"/>
          <p:cNvSpPr/>
          <p:nvPr/>
        </p:nvSpPr>
        <p:spPr>
          <a:xfrm>
            <a:off x="4800600" y="3675888"/>
            <a:ext cx="4114800" cy="530352"/>
          </a:xfrm>
          <a:prstGeom prst="rect">
            <a:avLst/>
          </a:prstGeom>
          <a:solidFill>
            <a:srgbClr val="F0FDF4"/>
          </a:solidFill>
          <a:ln w="6350">
            <a:solidFill>
              <a:srgbClr val="BBF7D0"/>
            </a:solidFill>
            <a:prstDash val="solid"/>
          </a:ln>
        </p:spPr>
      </p:sp>
      <p:pic>
        <p:nvPicPr>
          <p:cNvPr id="39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919472" y="3767328"/>
            <a:ext cx="274320" cy="274320"/>
          </a:xfrm>
          <a:prstGeom prst="rect">
            <a:avLst/>
          </a:prstGeom>
        </p:spPr>
      </p:pic>
      <p:sp>
        <p:nvSpPr>
          <p:cNvPr id="40" name="Text 28"/>
          <p:cNvSpPr/>
          <p:nvPr/>
        </p:nvSpPr>
        <p:spPr>
          <a:xfrm>
            <a:off x="5285232" y="3675888"/>
            <a:ext cx="3520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Rapport HTML interactif généré automatiquement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0" cy="685800"/>
          </a:xfrm>
          <a:prstGeom prst="rect">
            <a:avLst/>
          </a:prstGeom>
          <a:solidFill>
            <a:srgbClr val="00A99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0"/>
            <a:ext cx="640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256032" y="850392"/>
            <a:ext cx="4206240" cy="1938528"/>
          </a:xfrm>
          <a:prstGeom prst="rect">
            <a:avLst/>
          </a:prstGeom>
          <a:solidFill>
            <a:srgbClr val="CBD5E1">
              <a:alpha val="5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822960"/>
            <a:ext cx="4206240" cy="19385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28600" y="822960"/>
            <a:ext cx="54864" cy="1938528"/>
          </a:xfrm>
          <a:prstGeom prst="rect">
            <a:avLst/>
          </a:prstGeom>
          <a:solidFill>
            <a:srgbClr val="00A99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01752" y="896112"/>
            <a:ext cx="502920" cy="502920"/>
          </a:xfrm>
          <a:prstGeom prst="rect">
            <a:avLst/>
          </a:prstGeom>
          <a:solidFill>
            <a:srgbClr val="00A99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01752" y="8961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94760" y="932688"/>
            <a:ext cx="411480" cy="41148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914400" y="91440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Centraliser la validation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338328" y="1417320"/>
            <a:ext cx="39136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Regrouper tous les checks métier Pricing en un seul package versionné, maintenu et partagé par toute l'équipe. Fini les validations ad-hoc dans chaque notebook.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338328" y="2395728"/>
            <a:ext cx="1129284" cy="256032"/>
          </a:xfrm>
          <a:prstGeom prst="rect">
            <a:avLst/>
          </a:prstGeom>
          <a:solidFill>
            <a:srgbClr val="00A99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38328" y="2395728"/>
            <a:ext cx="11292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 pip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1577340" y="2395728"/>
            <a:ext cx="1207008" cy="256032"/>
          </a:xfrm>
          <a:prstGeom prst="rect">
            <a:avLst/>
          </a:prstGeom>
          <a:solidFill>
            <a:srgbClr val="00A99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577340" y="2395728"/>
            <a:ext cx="1207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Réutilisable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4690872" y="850392"/>
            <a:ext cx="4206240" cy="1938528"/>
          </a:xfrm>
          <a:prstGeom prst="rect">
            <a:avLst/>
          </a:prstGeom>
          <a:solidFill>
            <a:srgbClr val="CBD5E1">
              <a:alpha val="5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663440" y="822960"/>
            <a:ext cx="4206240" cy="19385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663440" y="822960"/>
            <a:ext cx="54864" cy="1938528"/>
          </a:xfrm>
          <a:prstGeom prst="rect">
            <a:avLst/>
          </a:prstGeom>
          <a:solidFill>
            <a:srgbClr val="00A99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4736592" y="896112"/>
            <a:ext cx="502920" cy="502920"/>
          </a:xfrm>
          <a:prstGeom prst="rect">
            <a:avLst/>
          </a:prstGeom>
          <a:solidFill>
            <a:srgbClr val="00A99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736592" y="8961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932688"/>
            <a:ext cx="411480" cy="411480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5349240" y="91440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Étendre Deepchecks</a:t>
            </a:r>
            <a:endParaRPr lang="en-US" sz="1300" dirty="0"/>
          </a:p>
        </p:txBody>
      </p:sp>
      <p:sp>
        <p:nvSpPr>
          <p:cNvPr id="25" name="Text 21"/>
          <p:cNvSpPr/>
          <p:nvPr/>
        </p:nvSpPr>
        <p:spPr>
          <a:xfrm>
            <a:off x="4773168" y="1417320"/>
            <a:ext cx="39136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Ajouter des checks spécifiques au domaine Pricing absents de la librairie standard : dérive des prix, cohérence élasticité, contrôle marges minimales.</a:t>
            </a:r>
            <a:endParaRPr lang="en-US" sz="1000" dirty="0"/>
          </a:p>
        </p:txBody>
      </p:sp>
      <p:sp>
        <p:nvSpPr>
          <p:cNvPr id="26" name="Shape 22"/>
          <p:cNvSpPr/>
          <p:nvPr/>
        </p:nvSpPr>
        <p:spPr>
          <a:xfrm>
            <a:off x="4773168" y="2395728"/>
            <a:ext cx="1284732" cy="256032"/>
          </a:xfrm>
          <a:prstGeom prst="rect">
            <a:avLst/>
          </a:prstGeom>
          <a:solidFill>
            <a:srgbClr val="00A99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4773168" y="2395728"/>
            <a:ext cx="12847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checks</a:t>
            </a:r>
            <a:endParaRPr lang="en-US" sz="850" dirty="0"/>
          </a:p>
        </p:txBody>
      </p:sp>
      <p:sp>
        <p:nvSpPr>
          <p:cNvPr id="28" name="Shape 24"/>
          <p:cNvSpPr/>
          <p:nvPr/>
        </p:nvSpPr>
        <p:spPr>
          <a:xfrm>
            <a:off x="6167628" y="2395728"/>
            <a:ext cx="1362456" cy="256032"/>
          </a:xfrm>
          <a:prstGeom prst="rect">
            <a:avLst/>
          </a:prstGeom>
          <a:solidFill>
            <a:srgbClr val="00A99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6167628" y="2395728"/>
            <a:ext cx="1362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Domaine métier</a:t>
            </a:r>
            <a:endParaRPr lang="en-US" sz="850" dirty="0"/>
          </a:p>
        </p:txBody>
      </p:sp>
      <p:sp>
        <p:nvSpPr>
          <p:cNvPr id="30" name="Shape 26"/>
          <p:cNvSpPr/>
          <p:nvPr/>
        </p:nvSpPr>
        <p:spPr>
          <a:xfrm>
            <a:off x="256032" y="2953512"/>
            <a:ext cx="4206240" cy="1938528"/>
          </a:xfrm>
          <a:prstGeom prst="rect">
            <a:avLst/>
          </a:prstGeom>
          <a:solidFill>
            <a:srgbClr val="CBD5E1">
              <a:alpha val="5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228600" y="2926080"/>
            <a:ext cx="4206240" cy="19385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228600" y="2926080"/>
            <a:ext cx="54864" cy="1938528"/>
          </a:xfrm>
          <a:prstGeom prst="rect">
            <a:avLst/>
          </a:prstGeom>
          <a:solidFill>
            <a:srgbClr val="00A99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301752" y="2999232"/>
            <a:ext cx="502920" cy="502920"/>
          </a:xfrm>
          <a:prstGeom prst="rect">
            <a:avLst/>
          </a:prstGeom>
          <a:solidFill>
            <a:srgbClr val="00A99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301752" y="29992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pic>
        <p:nvPicPr>
          <p:cNvPr id="3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4760" y="3035808"/>
            <a:ext cx="411480" cy="411480"/>
          </a:xfrm>
          <a:prstGeom prst="rect">
            <a:avLst/>
          </a:prstGeom>
        </p:spPr>
      </p:pic>
      <p:sp>
        <p:nvSpPr>
          <p:cNvPr id="36" name="Text 31"/>
          <p:cNvSpPr/>
          <p:nvPr/>
        </p:nvSpPr>
        <p:spPr>
          <a:xfrm>
            <a:off x="914400" y="3017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Uniformiser les standards</a:t>
            </a:r>
            <a:endParaRPr lang="en-US" sz="1300" dirty="0"/>
          </a:p>
        </p:txBody>
      </p:sp>
      <p:sp>
        <p:nvSpPr>
          <p:cNvPr id="37" name="Text 32"/>
          <p:cNvSpPr/>
          <p:nvPr/>
        </p:nvSpPr>
        <p:spPr>
          <a:xfrm>
            <a:off x="338328" y="3520440"/>
            <a:ext cx="39136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Garantir une qualité de données et de modèle homogène sur l'ensemble des projets Pricing. Mêmes seuils, même logique, mêmes rapports pour tous.</a:t>
            </a:r>
            <a:endParaRPr lang="en-US" sz="1000" dirty="0"/>
          </a:p>
        </p:txBody>
      </p:sp>
      <p:sp>
        <p:nvSpPr>
          <p:cNvPr id="38" name="Shape 33"/>
          <p:cNvSpPr/>
          <p:nvPr/>
        </p:nvSpPr>
        <p:spPr>
          <a:xfrm>
            <a:off x="338328" y="4498848"/>
            <a:ext cx="1517904" cy="256032"/>
          </a:xfrm>
          <a:prstGeom prst="rect">
            <a:avLst/>
          </a:prstGeom>
          <a:solidFill>
            <a:srgbClr val="00A99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9" name="Text 34"/>
          <p:cNvSpPr/>
          <p:nvPr/>
        </p:nvSpPr>
        <p:spPr>
          <a:xfrm>
            <a:off x="338328" y="4498848"/>
            <a:ext cx="15179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 équipe</a:t>
            </a:r>
            <a:endParaRPr lang="en-US" sz="850" dirty="0"/>
          </a:p>
        </p:txBody>
      </p:sp>
      <p:sp>
        <p:nvSpPr>
          <p:cNvPr id="40" name="Shape 35"/>
          <p:cNvSpPr/>
          <p:nvPr/>
        </p:nvSpPr>
        <p:spPr>
          <a:xfrm>
            <a:off x="1965960" y="4498848"/>
            <a:ext cx="818388" cy="256032"/>
          </a:xfrm>
          <a:prstGeom prst="rect">
            <a:avLst/>
          </a:prstGeom>
          <a:solidFill>
            <a:srgbClr val="00A99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1" name="Text 36"/>
          <p:cNvSpPr/>
          <p:nvPr/>
        </p:nvSpPr>
        <p:spPr>
          <a:xfrm>
            <a:off x="1965960" y="4498848"/>
            <a:ext cx="8183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Qualité</a:t>
            </a:r>
            <a:endParaRPr lang="en-US" sz="850" dirty="0"/>
          </a:p>
        </p:txBody>
      </p:sp>
      <p:sp>
        <p:nvSpPr>
          <p:cNvPr id="42" name="Shape 37"/>
          <p:cNvSpPr/>
          <p:nvPr/>
        </p:nvSpPr>
        <p:spPr>
          <a:xfrm>
            <a:off x="4690872" y="2953512"/>
            <a:ext cx="4206240" cy="1938528"/>
          </a:xfrm>
          <a:prstGeom prst="rect">
            <a:avLst/>
          </a:prstGeom>
          <a:solidFill>
            <a:srgbClr val="CBD5E1">
              <a:alpha val="5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3" name="Shape 38"/>
          <p:cNvSpPr/>
          <p:nvPr/>
        </p:nvSpPr>
        <p:spPr>
          <a:xfrm>
            <a:off x="4663440" y="2926080"/>
            <a:ext cx="4206240" cy="19385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4" name="Shape 39"/>
          <p:cNvSpPr/>
          <p:nvPr/>
        </p:nvSpPr>
        <p:spPr>
          <a:xfrm>
            <a:off x="4663440" y="2926080"/>
            <a:ext cx="54864" cy="1938528"/>
          </a:xfrm>
          <a:prstGeom prst="rect">
            <a:avLst/>
          </a:prstGeom>
          <a:solidFill>
            <a:srgbClr val="00A99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5" name="Shape 40"/>
          <p:cNvSpPr/>
          <p:nvPr/>
        </p:nvSpPr>
        <p:spPr>
          <a:xfrm>
            <a:off x="4736592" y="2999232"/>
            <a:ext cx="502920" cy="502920"/>
          </a:xfrm>
          <a:prstGeom prst="rect">
            <a:avLst/>
          </a:prstGeom>
          <a:solidFill>
            <a:srgbClr val="00A99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6" name="Text 41"/>
          <p:cNvSpPr/>
          <p:nvPr/>
        </p:nvSpPr>
        <p:spPr>
          <a:xfrm>
            <a:off x="4736592" y="29992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pic>
        <p:nvPicPr>
          <p:cNvPr id="4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0" y="3035808"/>
            <a:ext cx="411480" cy="411480"/>
          </a:xfrm>
          <a:prstGeom prst="rect">
            <a:avLst/>
          </a:prstGeom>
        </p:spPr>
      </p:pic>
      <p:sp>
        <p:nvSpPr>
          <p:cNvPr id="48" name="Text 42"/>
          <p:cNvSpPr/>
          <p:nvPr/>
        </p:nvSpPr>
        <p:spPr>
          <a:xfrm>
            <a:off x="5349240" y="3017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Automatiser en CI/CD</a:t>
            </a:r>
            <a:endParaRPr lang="en-US" sz="1300" dirty="0"/>
          </a:p>
        </p:txBody>
      </p:sp>
      <p:sp>
        <p:nvSpPr>
          <p:cNvPr id="49" name="Text 43"/>
          <p:cNvSpPr/>
          <p:nvPr/>
        </p:nvSpPr>
        <p:spPr>
          <a:xfrm>
            <a:off x="4773168" y="3520440"/>
            <a:ext cx="39136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Permettre l'exécution automatique des suites de tests dans les pipelines ML. Les checks tournent à chaque commit ou déploiement de modèle.</a:t>
            </a:r>
            <a:endParaRPr lang="en-US" sz="1000" dirty="0"/>
          </a:p>
        </p:txBody>
      </p:sp>
      <p:sp>
        <p:nvSpPr>
          <p:cNvPr id="50" name="Shape 44"/>
          <p:cNvSpPr/>
          <p:nvPr/>
        </p:nvSpPr>
        <p:spPr>
          <a:xfrm>
            <a:off x="4773168" y="4498848"/>
            <a:ext cx="1362456" cy="256032"/>
          </a:xfrm>
          <a:prstGeom prst="rect">
            <a:avLst/>
          </a:prstGeom>
          <a:solidFill>
            <a:srgbClr val="00A99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1" name="Text 45"/>
          <p:cNvSpPr/>
          <p:nvPr/>
        </p:nvSpPr>
        <p:spPr>
          <a:xfrm>
            <a:off x="4773168" y="4498848"/>
            <a:ext cx="1362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</a:t>
            </a:r>
            <a:endParaRPr lang="en-US" sz="850" dirty="0"/>
          </a:p>
        </p:txBody>
      </p:sp>
      <p:sp>
        <p:nvSpPr>
          <p:cNvPr id="52" name="Shape 46"/>
          <p:cNvSpPr/>
          <p:nvPr/>
        </p:nvSpPr>
        <p:spPr>
          <a:xfrm>
            <a:off x="6245352" y="4498848"/>
            <a:ext cx="1129284" cy="256032"/>
          </a:xfrm>
          <a:prstGeom prst="rect">
            <a:avLst/>
          </a:prstGeom>
          <a:solidFill>
            <a:srgbClr val="00A99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3" name="Text 47"/>
          <p:cNvSpPr/>
          <p:nvPr/>
        </p:nvSpPr>
        <p:spPr>
          <a:xfrm>
            <a:off x="6245352" y="4498848"/>
            <a:ext cx="11292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ML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0" cy="685800"/>
          </a:xfrm>
          <a:prstGeom prst="rect">
            <a:avLst/>
          </a:prstGeom>
          <a:solidFill>
            <a:srgbClr val="00A99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0"/>
            <a:ext cx="640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Choix Technologiques — Pourquoi Deepchecks ?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228600" y="804672"/>
            <a:ext cx="2011680" cy="4251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86868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Expectations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1572768"/>
            <a:ext cx="173736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8600" y="166420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Points forts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38328" y="1993392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Très mature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38328" y="2377440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Large communauté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28600" y="287121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 Limites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38328" y="3218688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Pas orienté ML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38328" y="3602736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Verbeux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38328" y="3986784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Pas de rapport HTML riche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404872" y="804672"/>
            <a:ext cx="2011680" cy="4251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404872" y="86868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Evidently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542032" y="1572768"/>
            <a:ext cx="173736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404872" y="166420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Points forts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514600" y="1993392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Bon pour la dérive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514600" y="2377440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Rapports visuels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2404872" y="287121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 Limites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514600" y="3218688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Moins extensible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2514600" y="3602736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Focalisé monitoring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2514600" y="3986784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API moins flexible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581144" y="804672"/>
            <a:ext cx="2011680" cy="4251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81144" y="86868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maison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718304" y="1572768"/>
            <a:ext cx="173736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81144" y="166420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Points forts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690872" y="1993392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Totalement sur mesure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581144" y="248716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 Limites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690872" y="2834640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Coût maintenance élevé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690872" y="3218688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Pas standardisé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690872" y="3602736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À refaire à chaque projet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757416" y="804672"/>
            <a:ext cx="2011680" cy="4251960"/>
          </a:xfrm>
          <a:prstGeom prst="rect">
            <a:avLst/>
          </a:prstGeom>
          <a:solidFill>
            <a:srgbClr val="00A99D"/>
          </a:solidFill>
          <a:ln w="12700">
            <a:solidFill>
              <a:srgbClr val="00A99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757416" y="86868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Deepchecks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Choisi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894576" y="1572768"/>
            <a:ext cx="1737360" cy="18288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757416" y="166420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6F6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Points forts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867144" y="1993392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Framework ML complet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6867144" y="2377440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Très extensible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6867144" y="2761488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Rapport HTML interactif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6867144" y="3145536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Conditions pass/fail</a:t>
            </a:r>
            <a:endParaRPr lang="en-US" sz="950" dirty="0"/>
          </a:p>
        </p:txBody>
      </p:sp>
      <p:pic>
        <p:nvPicPr>
          <p:cNvPr id="4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34656" y="4480560"/>
            <a:ext cx="411480" cy="4114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0" cy="685800"/>
          </a:xfrm>
          <a:prstGeom prst="rect">
            <a:avLst/>
          </a:prstGeom>
          <a:solidFill>
            <a:srgbClr val="00A99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0"/>
            <a:ext cx="640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Choix Technologiques — Architecture du Package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256032" y="832104"/>
            <a:ext cx="4114800" cy="4251960"/>
          </a:xfrm>
          <a:prstGeom prst="rect">
            <a:avLst/>
          </a:prstGeom>
          <a:solidFill>
            <a:srgbClr val="CBD5E1">
              <a:alpha val="5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804672"/>
            <a:ext cx="4114800" cy="4251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28600" y="804672"/>
            <a:ext cx="4114800" cy="384048"/>
          </a:xfrm>
          <a:prstGeom prst="rect">
            <a:avLst/>
          </a:prstGeom>
          <a:solidFill>
            <a:srgbClr val="1B2A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8600" y="804672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  Structure du package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20040" y="128016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A99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pricing_checks/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84632" y="152704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checks/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49224" y="1773936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data/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813816" y="2020824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│   ├── price_distribution.py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813816" y="226771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│   └── margin_threshold.py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49224" y="251460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model/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813816" y="276148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├── price_drift.py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813816" y="3008376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└── elasticity.py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84632" y="3255264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suites/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49224" y="350215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data_suite.py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49224" y="374904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full_suite.py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84632" y="399592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utils/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84632" y="4242816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__init__.py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599432" y="832104"/>
            <a:ext cx="4343400" cy="4251960"/>
          </a:xfrm>
          <a:prstGeom prst="rect">
            <a:avLst/>
          </a:prstGeom>
          <a:solidFill>
            <a:srgbClr val="CBD5E1">
              <a:alpha val="5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0" y="804672"/>
            <a:ext cx="4343400" cy="4251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0" y="804672"/>
            <a:ext cx="4343400" cy="384048"/>
          </a:xfrm>
          <a:prstGeom prst="rect">
            <a:avLst/>
          </a:prstGeom>
          <a:solidFill>
            <a:srgbClr val="00A99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0" y="804672"/>
            <a:ext cx="4343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Héritage de classes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303520" y="1298448"/>
            <a:ext cx="2834640" cy="621792"/>
          </a:xfrm>
          <a:prstGeom prst="rect">
            <a:avLst/>
          </a:prstGeom>
          <a:solidFill>
            <a:srgbClr val="1B2A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303520" y="1298448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A99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TrainTestCheck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303520" y="1618488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(Deepchecks)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583680" y="1965960"/>
            <a:ext cx="27432" cy="365760"/>
          </a:xfrm>
          <a:prstGeom prst="rect">
            <a:avLst/>
          </a:prstGeom>
          <a:solidFill>
            <a:srgbClr val="00A99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09360" y="221284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A99D"/>
                </a:solidFill>
              </a:rPr>
              <a:t>▼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675120" y="205740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hérite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303520" y="2514600"/>
            <a:ext cx="2834640" cy="822960"/>
          </a:xfrm>
          <a:prstGeom prst="rect">
            <a:avLst/>
          </a:prstGeom>
          <a:solidFill>
            <a:srgbClr val="007F7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303520" y="2542032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PriceDriftCheck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303520" y="290779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6F6D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run() — compute() — add_condition()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5303520" y="3200400"/>
            <a:ext cx="2834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6F6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(PricingChecks)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663440" y="3520440"/>
            <a:ext cx="4114800" cy="384048"/>
          </a:xfrm>
          <a:prstGeom prst="rect">
            <a:avLst/>
          </a:prstGeom>
          <a:solidFill>
            <a:srgbClr val="E0F5F4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54880" y="352044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A99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compute()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6263640" y="3520440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Logique principale du check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663440" y="3977640"/>
            <a:ext cx="41148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54880" y="397764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A99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run()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6263640" y="3977640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Appel via la suite ou directement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4663440" y="4434840"/>
            <a:ext cx="4114800" cy="384048"/>
          </a:xfrm>
          <a:prstGeom prst="rect">
            <a:avLst/>
          </a:prstGeom>
          <a:solidFill>
            <a:srgbClr val="E0F5F4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754880" y="443484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A99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add_condition()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6263640" y="4434840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Seuil pass/fail configurable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0" cy="685800"/>
          </a:xfrm>
          <a:prstGeom prst="rect">
            <a:avLst/>
          </a:prstGeom>
          <a:solidFill>
            <a:srgbClr val="00A99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0"/>
            <a:ext cx="640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Contenu du Package — Checks Personnalisés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256032" y="832104"/>
            <a:ext cx="4206240" cy="1389888"/>
          </a:xfrm>
          <a:prstGeom prst="rect">
            <a:avLst/>
          </a:prstGeom>
          <a:solidFill>
            <a:srgbClr val="CBD5E1">
              <a:alpha val="5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804672"/>
            <a:ext cx="4206240" cy="13898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28600" y="804672"/>
            <a:ext cx="54864" cy="1389888"/>
          </a:xfrm>
          <a:prstGeom prst="rect">
            <a:avLst/>
          </a:prstGeom>
          <a:solidFill>
            <a:srgbClr val="00A99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01752" y="877824"/>
            <a:ext cx="822960" cy="201168"/>
          </a:xfrm>
          <a:prstGeom prst="rect">
            <a:avLst/>
          </a:prstGeom>
          <a:solidFill>
            <a:srgbClr val="00A99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01752" y="877824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188720" y="868680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PriceDistributionCheck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20040" y="1152144"/>
            <a:ext cx="40050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la distribution des prix : détecte les outliers, valeurs aberrantes et déséquilibres dans les segments tarifaires.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20040" y="171907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Histogramme + statistiques descriptives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2286000" y="1719072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Skewness &lt; 2.0, pas de valeur nulle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690872" y="832104"/>
            <a:ext cx="4206240" cy="1389888"/>
          </a:xfrm>
          <a:prstGeom prst="rect">
            <a:avLst/>
          </a:prstGeom>
          <a:solidFill>
            <a:srgbClr val="CBD5E1">
              <a:alpha val="5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63440" y="804672"/>
            <a:ext cx="4206240" cy="13898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63440" y="804672"/>
            <a:ext cx="54864" cy="1389888"/>
          </a:xfrm>
          <a:prstGeom prst="rect">
            <a:avLst/>
          </a:prstGeom>
          <a:solidFill>
            <a:srgbClr val="00A99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36592" y="877824"/>
            <a:ext cx="822960" cy="201168"/>
          </a:xfrm>
          <a:prstGeom prst="rect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36592" y="877824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5623560" y="868680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CompetitorPriceGap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754880" y="1152144"/>
            <a:ext cx="40050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Calcule l'écart entre les prix du modèle et les prix concurrents. Alerte si l'écart dépasse un seuil configurable.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754880" y="171907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Tableau comparatif par segment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6720840" y="1719072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Écart moyen &lt; 15%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256032" y="2340864"/>
            <a:ext cx="4206240" cy="1389888"/>
          </a:xfrm>
          <a:prstGeom prst="rect">
            <a:avLst/>
          </a:prstGeom>
          <a:solidFill>
            <a:srgbClr val="CBD5E1">
              <a:alpha val="5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28600" y="2313432"/>
            <a:ext cx="4206240" cy="13898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28600" y="2313432"/>
            <a:ext cx="54864" cy="1389888"/>
          </a:xfrm>
          <a:prstGeom prst="rect">
            <a:avLst/>
          </a:prstGeom>
          <a:solidFill>
            <a:srgbClr val="00A99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01752" y="2386584"/>
            <a:ext cx="822960" cy="201168"/>
          </a:xfrm>
          <a:prstGeom prst="rect">
            <a:avLst/>
          </a:prstGeom>
          <a:solidFill>
            <a:srgbClr val="1B2A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01752" y="2386584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1188720" y="2377440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ElasticityConsistency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320040" y="2660904"/>
            <a:ext cx="40050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Vérifie la cohérence des courbes d'élasticité-prix. Détecte les segments avec une élasticité économiquement incohérente.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320040" y="322783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Courbe élasticité + alertes segment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2286000" y="3227832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Élasticité &lt; 0 (loi normale)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4690872" y="2340864"/>
            <a:ext cx="4206240" cy="1389888"/>
          </a:xfrm>
          <a:prstGeom prst="rect">
            <a:avLst/>
          </a:prstGeom>
          <a:solidFill>
            <a:srgbClr val="CBD5E1">
              <a:alpha val="5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663440" y="2313432"/>
            <a:ext cx="4206240" cy="13898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663440" y="2313432"/>
            <a:ext cx="54864" cy="1389888"/>
          </a:xfrm>
          <a:prstGeom prst="rect">
            <a:avLst/>
          </a:prstGeom>
          <a:solidFill>
            <a:srgbClr val="00A99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736592" y="2386584"/>
            <a:ext cx="822960" cy="201168"/>
          </a:xfrm>
          <a:prstGeom prst="rect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36592" y="2386584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5623560" y="2377440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MarginThresholdCheck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4754880" y="2660904"/>
            <a:ext cx="40050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Contrôle que les prix générés respectent les marges minimales fixées par l'équipe Pricing pour chaque catégorie de produit.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4754880" y="322783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% de produits sous le seuil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6720840" y="3227832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0% de produits sous marge min.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256032" y="3849624"/>
            <a:ext cx="4206240" cy="1389888"/>
          </a:xfrm>
          <a:prstGeom prst="rect">
            <a:avLst/>
          </a:prstGeom>
          <a:solidFill>
            <a:srgbClr val="CBD5E1">
              <a:alpha val="5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28600" y="3822192"/>
            <a:ext cx="4206240" cy="13898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28600" y="3822192"/>
            <a:ext cx="54864" cy="1389888"/>
          </a:xfrm>
          <a:prstGeom prst="rect">
            <a:avLst/>
          </a:prstGeom>
          <a:solidFill>
            <a:srgbClr val="00A99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01752" y="3895344"/>
            <a:ext cx="822960" cy="201168"/>
          </a:xfrm>
          <a:prstGeom prst="rect">
            <a:avLst/>
          </a:prstGeom>
          <a:solidFill>
            <a:srgbClr val="1B2A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01752" y="3895344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1188720" y="3886200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PriceDriftCheck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320040" y="4169664"/>
            <a:ext cx="40050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Détecte une dérive temporelle ou train/test des prix prédits. Utilise la distance de Wasserstein ou PSI.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320040" y="473659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Score de dérive par feature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2286000" y="4736592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PSI &lt; 0.2 (dérive acceptable)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4690872" y="3849624"/>
            <a:ext cx="4206240" cy="1389888"/>
          </a:xfrm>
          <a:prstGeom prst="rect">
            <a:avLst/>
          </a:prstGeom>
          <a:solidFill>
            <a:srgbClr val="CBD5E1">
              <a:alpha val="5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4663440" y="3822192"/>
            <a:ext cx="4206240" cy="13898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663440" y="3822192"/>
            <a:ext cx="54864" cy="1389888"/>
          </a:xfrm>
          <a:prstGeom prst="rect">
            <a:avLst/>
          </a:prstGeom>
          <a:solidFill>
            <a:srgbClr val="00A99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4736592" y="3895344"/>
            <a:ext cx="822960" cy="201168"/>
          </a:xfrm>
          <a:prstGeom prst="rect">
            <a:avLst/>
          </a:prstGeom>
          <a:solidFill>
            <a:srgbClr val="00A99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736592" y="3895344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5623560" y="3886200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SegmentPriceEquity</a:t>
            </a:r>
            <a:endParaRPr lang="en-US" sz="1050" dirty="0"/>
          </a:p>
        </p:txBody>
      </p:sp>
      <p:sp>
        <p:nvSpPr>
          <p:cNvPr id="57" name="Text 55"/>
          <p:cNvSpPr/>
          <p:nvPr/>
        </p:nvSpPr>
        <p:spPr>
          <a:xfrm>
            <a:off x="4754880" y="4169664"/>
            <a:ext cx="40050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Vérifie l'équité tarifaire entre segments clients. Identifie des disparités injustifiées de prix pour des profils comparables.</a:t>
            </a:r>
            <a:endParaRPr lang="en-US" sz="950" dirty="0"/>
          </a:p>
        </p:txBody>
      </p:sp>
      <p:sp>
        <p:nvSpPr>
          <p:cNvPr id="58" name="Text 56"/>
          <p:cNvSpPr/>
          <p:nvPr/>
        </p:nvSpPr>
        <p:spPr>
          <a:xfrm>
            <a:off x="4754880" y="473659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Heatmap écarts inter-segments</a:t>
            </a: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>
            <a:off x="6720840" y="4736592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Écart max &lt; seuil configurable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0" cy="685800"/>
          </a:xfrm>
          <a:prstGeom prst="rect">
            <a:avLst/>
          </a:prstGeom>
          <a:solidFill>
            <a:srgbClr val="00A99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0"/>
            <a:ext cx="640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Contenu du Package — Suites Disponibles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256032" y="832104"/>
            <a:ext cx="8686800" cy="1353312"/>
          </a:xfrm>
          <a:prstGeom prst="rect">
            <a:avLst/>
          </a:prstGeom>
          <a:solidFill>
            <a:srgbClr val="CBD5E1">
              <a:alpha val="5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804672"/>
            <a:ext cx="8686800" cy="13533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28600" y="804672"/>
            <a:ext cx="2103120" cy="1353312"/>
          </a:xfrm>
          <a:prstGeom prst="rect">
            <a:avLst/>
          </a:prstGeom>
          <a:solidFill>
            <a:srgbClr val="00A99D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987552"/>
            <a:ext cx="411480" cy="41148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274320" y="146304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data_integrity_suite()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2423160" y="877824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Vérifie la cohérence et la complétude des données brutes de prix avant tout entraînement.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2423160" y="1399032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inclus :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2423160" y="1609344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A99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PriceDistributionCheck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2423160" y="1792224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A99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SegmentPriceEquity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2423160" y="1975104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A99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MarginThresholdCheck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5349240" y="877824"/>
            <a:ext cx="3429000" cy="1188720"/>
          </a:xfrm>
          <a:prstGeom prst="rect">
            <a:avLst/>
          </a:prstGeom>
          <a:solidFill>
            <a:srgbClr val="1E203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486400" y="941832"/>
            <a:ext cx="3200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8D8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suite = data_integrity_suite()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D8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 = suite.run(train_ds)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256032" y="2295144"/>
            <a:ext cx="8686800" cy="1353312"/>
          </a:xfrm>
          <a:prstGeom prst="rect">
            <a:avLst/>
          </a:prstGeom>
          <a:solidFill>
            <a:srgbClr val="CBD5E1">
              <a:alpha val="5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228600" y="2267712"/>
            <a:ext cx="8686800" cy="13533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228600" y="2267712"/>
            <a:ext cx="2103120" cy="1353312"/>
          </a:xfrm>
          <a:prstGeom prst="rect">
            <a:avLst/>
          </a:prstGeom>
          <a:solidFill>
            <a:srgbClr val="1B2A4A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450592"/>
            <a:ext cx="411480" cy="41148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274320" y="292608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model_pricing_suite()</a:t>
            </a:r>
            <a:endParaRPr lang="en-US" sz="1000" dirty="0"/>
          </a:p>
        </p:txBody>
      </p:sp>
      <p:sp>
        <p:nvSpPr>
          <p:cNvPr id="23" name="Text 19"/>
          <p:cNvSpPr/>
          <p:nvPr/>
        </p:nvSpPr>
        <p:spPr>
          <a:xfrm>
            <a:off x="2423160" y="2340864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Évalue la performance et la stabilité des modèles de pricing en comparant train et test.</a:t>
            </a:r>
            <a:endParaRPr lang="en-US" sz="1000" dirty="0"/>
          </a:p>
        </p:txBody>
      </p:sp>
      <p:sp>
        <p:nvSpPr>
          <p:cNvPr id="24" name="Text 20"/>
          <p:cNvSpPr/>
          <p:nvPr/>
        </p:nvSpPr>
        <p:spPr>
          <a:xfrm>
            <a:off x="2423160" y="2862072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inclus :</a:t>
            </a:r>
            <a:endParaRPr lang="en-US" sz="850" dirty="0"/>
          </a:p>
        </p:txBody>
      </p:sp>
      <p:sp>
        <p:nvSpPr>
          <p:cNvPr id="25" name="Text 21"/>
          <p:cNvSpPr/>
          <p:nvPr/>
        </p:nvSpPr>
        <p:spPr>
          <a:xfrm>
            <a:off x="2423160" y="3072384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A99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PriceDriftCheck</a:t>
            </a:r>
            <a:endParaRPr lang="en-US" sz="850" dirty="0"/>
          </a:p>
        </p:txBody>
      </p:sp>
      <p:sp>
        <p:nvSpPr>
          <p:cNvPr id="26" name="Text 22"/>
          <p:cNvSpPr/>
          <p:nvPr/>
        </p:nvSpPr>
        <p:spPr>
          <a:xfrm>
            <a:off x="2423160" y="3255264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A99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ElasticityConsistency</a:t>
            </a:r>
            <a:endParaRPr lang="en-US" sz="850" dirty="0"/>
          </a:p>
        </p:txBody>
      </p:sp>
      <p:sp>
        <p:nvSpPr>
          <p:cNvPr id="27" name="Text 23"/>
          <p:cNvSpPr/>
          <p:nvPr/>
        </p:nvSpPr>
        <p:spPr>
          <a:xfrm>
            <a:off x="2423160" y="3438144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A99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CompetitorPriceGap</a:t>
            </a:r>
            <a:endParaRPr lang="en-US" sz="850" dirty="0"/>
          </a:p>
        </p:txBody>
      </p:sp>
      <p:sp>
        <p:nvSpPr>
          <p:cNvPr id="28" name="Shape 24"/>
          <p:cNvSpPr/>
          <p:nvPr/>
        </p:nvSpPr>
        <p:spPr>
          <a:xfrm>
            <a:off x="5349240" y="2340864"/>
            <a:ext cx="3429000" cy="1188720"/>
          </a:xfrm>
          <a:prstGeom prst="rect">
            <a:avLst/>
          </a:prstGeom>
          <a:solidFill>
            <a:srgbClr val="1E203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5486400" y="2404872"/>
            <a:ext cx="3200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8D8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suite = model_pricing_suite()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D8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 = suite.run(train_ds, test_ds)</a:t>
            </a:r>
            <a:endParaRPr lang="en-US" sz="900" dirty="0"/>
          </a:p>
        </p:txBody>
      </p:sp>
      <p:sp>
        <p:nvSpPr>
          <p:cNvPr id="30" name="Shape 26"/>
          <p:cNvSpPr/>
          <p:nvPr/>
        </p:nvSpPr>
        <p:spPr>
          <a:xfrm>
            <a:off x="256032" y="3758184"/>
            <a:ext cx="8686800" cy="1353312"/>
          </a:xfrm>
          <a:prstGeom prst="rect">
            <a:avLst/>
          </a:prstGeom>
          <a:solidFill>
            <a:srgbClr val="CBD5E1">
              <a:alpha val="5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228600" y="3730752"/>
            <a:ext cx="8686800" cy="13533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228600" y="3730752"/>
            <a:ext cx="2103120" cy="1353312"/>
          </a:xfrm>
          <a:prstGeom prst="rect">
            <a:avLst/>
          </a:prstGeom>
          <a:solidFill>
            <a:srgbClr val="007F76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3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3913632"/>
            <a:ext cx="411480" cy="411480"/>
          </a:xfrm>
          <a:prstGeom prst="rect">
            <a:avLst/>
          </a:prstGeom>
        </p:spPr>
      </p:pic>
      <p:sp>
        <p:nvSpPr>
          <p:cNvPr id="34" name="Text 29"/>
          <p:cNvSpPr/>
          <p:nvPr/>
        </p:nvSpPr>
        <p:spPr>
          <a:xfrm>
            <a:off x="274320" y="438912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full_pricing_suite()</a:t>
            </a:r>
            <a:endParaRPr lang="en-US" sz="1000" dirty="0"/>
          </a:p>
        </p:txBody>
      </p:sp>
      <p:sp>
        <p:nvSpPr>
          <p:cNvPr id="35" name="Text 30"/>
          <p:cNvSpPr/>
          <p:nvPr/>
        </p:nvSpPr>
        <p:spPr>
          <a:xfrm>
            <a:off x="2423160" y="3803904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Suite complète combinant tous les checks disponibles. Rapport global pour revues d'équipe.</a:t>
            </a:r>
            <a:endParaRPr lang="en-US" sz="1000" dirty="0"/>
          </a:p>
        </p:txBody>
      </p:sp>
      <p:sp>
        <p:nvSpPr>
          <p:cNvPr id="36" name="Text 31"/>
          <p:cNvSpPr/>
          <p:nvPr/>
        </p:nvSpPr>
        <p:spPr>
          <a:xfrm>
            <a:off x="2423160" y="4325112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inclus :</a:t>
            </a:r>
            <a:endParaRPr lang="en-US" sz="850" dirty="0"/>
          </a:p>
        </p:txBody>
      </p:sp>
      <p:sp>
        <p:nvSpPr>
          <p:cNvPr id="37" name="Text 32"/>
          <p:cNvSpPr/>
          <p:nvPr/>
        </p:nvSpPr>
        <p:spPr>
          <a:xfrm>
            <a:off x="2423160" y="4535424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A99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Tous les checks (6)</a:t>
            </a:r>
            <a:endParaRPr lang="en-US" sz="850" dirty="0"/>
          </a:p>
        </p:txBody>
      </p:sp>
      <p:sp>
        <p:nvSpPr>
          <p:cNvPr id="38" name="Text 33"/>
          <p:cNvSpPr/>
          <p:nvPr/>
        </p:nvSpPr>
        <p:spPr>
          <a:xfrm>
            <a:off x="2423160" y="4718304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A99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Conditions configurables</a:t>
            </a:r>
            <a:endParaRPr lang="en-US" sz="850" dirty="0"/>
          </a:p>
        </p:txBody>
      </p:sp>
      <p:sp>
        <p:nvSpPr>
          <p:cNvPr id="39" name="Text 34"/>
          <p:cNvSpPr/>
          <p:nvPr/>
        </p:nvSpPr>
        <p:spPr>
          <a:xfrm>
            <a:off x="2423160" y="4901184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A99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Rapport HTML complet</a:t>
            </a:r>
            <a:endParaRPr lang="en-US" sz="850" dirty="0"/>
          </a:p>
        </p:txBody>
      </p:sp>
      <p:sp>
        <p:nvSpPr>
          <p:cNvPr id="40" name="Shape 35"/>
          <p:cNvSpPr/>
          <p:nvPr/>
        </p:nvSpPr>
        <p:spPr>
          <a:xfrm>
            <a:off x="5349240" y="3803904"/>
            <a:ext cx="3429000" cy="1188720"/>
          </a:xfrm>
          <a:prstGeom prst="rect">
            <a:avLst/>
          </a:prstGeom>
          <a:solidFill>
            <a:srgbClr val="1E203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1" name="Text 36"/>
          <p:cNvSpPr/>
          <p:nvPr/>
        </p:nvSpPr>
        <p:spPr>
          <a:xfrm>
            <a:off x="5486400" y="3867912"/>
            <a:ext cx="3200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8D8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suite = full_pricing_suite()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D8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 = suite.run(train_ds, test_ds)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D8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result.save_as_html('report.html')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0" cy="685800"/>
          </a:xfrm>
          <a:prstGeom prst="rect">
            <a:avLst/>
          </a:prstGeom>
          <a:solidFill>
            <a:srgbClr val="00A99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0"/>
            <a:ext cx="640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Exemple d'Utilisation — Code complet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256032" y="832104"/>
            <a:ext cx="8686800" cy="502920"/>
          </a:xfrm>
          <a:prstGeom prst="rect">
            <a:avLst/>
          </a:prstGeom>
          <a:solidFill>
            <a:srgbClr val="CBD5E1">
              <a:alpha val="5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804672"/>
            <a:ext cx="86868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28600" y="804672"/>
            <a:ext cx="45720" cy="502920"/>
          </a:xfrm>
          <a:prstGeom prst="rect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804672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Installation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737360" y="841248"/>
            <a:ext cx="7040880" cy="365760"/>
          </a:xfrm>
          <a:prstGeom prst="rect">
            <a:avLst/>
          </a:prstGeom>
          <a:solidFill>
            <a:srgbClr val="1E203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874520" y="841248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pricing-checks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28600" y="1371600"/>
            <a:ext cx="5486400" cy="3703320"/>
          </a:xfrm>
          <a:prstGeom prst="rect">
            <a:avLst/>
          </a:prstGeom>
          <a:solidFill>
            <a:srgbClr val="1E203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28600" y="1371600"/>
            <a:ext cx="5486400" cy="274320"/>
          </a:xfrm>
          <a:prstGeom prst="rect">
            <a:avLst/>
          </a:prstGeom>
          <a:solidFill>
            <a:srgbClr val="2A2D3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7472" y="13716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● ●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731520" y="137160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0AE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pricing_example.py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365760" y="1691640"/>
            <a:ext cx="52120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pPr indent="0" marL="0">
              <a:buNone/>
            </a:pPr>
            <a:r>
              <a:rPr lang="en-US" sz="9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pandas </a:t>
            </a:r>
            <a:pPr indent="0" marL="0">
              <a:buNone/>
            </a:pPr>
            <a:r>
              <a:rPr lang="en-US" sz="900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pPr indent="0" marL="0">
              <a:buNone/>
            </a:pPr>
            <a:r>
              <a:rPr lang="en-US" sz="9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pd
</a:t>
            </a:r>
            <a:pPr indent="0" marL="0">
              <a:buNone/>
            </a:pPr>
            <a:r>
              <a:rPr lang="en-US" sz="900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pPr indent="0" marL="0">
              <a:buNone/>
            </a:pPr>
            <a:r>
              <a:rPr lang="en-US" sz="9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deepchecks.tabular </a:t>
            </a:r>
            <a:pPr indent="0" marL="0">
              <a:buNone/>
            </a:pPr>
            <a:r>
              <a:rPr lang="en-US" sz="900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pPr indent="0" marL="0">
              <a:buNone/>
            </a:pPr>
            <a:r>
              <a:rPr lang="en-US" sz="9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Dataset
</a:t>
            </a:r>
            <a:pPr indent="0" marL="0">
              <a:buNone/>
            </a:pPr>
            <a:r>
              <a:rPr lang="en-US" sz="900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pPr indent="0" marL="0">
              <a:buNone/>
            </a:pPr>
            <a:r>
              <a:rPr lang="en-US" sz="9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pricing_checks.suites </a:t>
            </a:r>
            <a:pPr indent="0" marL="0">
              <a:buNone/>
            </a:pPr>
            <a:r>
              <a:rPr lang="en-US" sz="900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pPr indent="0" marL="0">
              <a:buNone/>
            </a:pPr>
            <a:r>
              <a:rPr lang="en-US" sz="9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full_pricing_suite
</a:t>
            </a:r>
            <a:pPr indent="0" marL="0">
              <a:buNone/>
            </a:pPr>
            <a:r>
              <a:rPr lang="en-US" sz="900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pPr indent="0" marL="0">
              <a:buNone/>
            </a:pPr>
            <a:r>
              <a:rPr lang="en-US" sz="9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pricing_checks.checks.model </a:t>
            </a:r>
            <a:pPr indent="0" marL="0">
              <a:buNone/>
            </a:pPr>
            <a:r>
              <a:rPr lang="en-US" sz="900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pPr indent="0" marL="0">
              <a:buNone/>
            </a:pPr>
            <a:r>
              <a:rPr lang="en-US" sz="9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PriceDriftCheck
</a:t>
            </a:r>
            <a:pPr indent="0" marL="0">
              <a:buNone/>
            </a:pPr>
            <a:r>
              <a:rPr lang="en-US" sz="900" i="1" dirty="0">
                <a:solidFill>
                  <a:srgbClr val="5C63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1. Préparer les datasets
</a:t>
            </a:r>
            <a:pPr indent="0" marL="0">
              <a:buNone/>
            </a:pPr>
            <a:r>
              <a:rPr lang="en-US" sz="900" dirty="0">
                <a:solidFill>
                  <a:srgbClr val="E06C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train_ds</a:t>
            </a:r>
            <a:pPr indent="0" marL="0">
              <a:buNone/>
            </a:pPr>
            <a:r>
              <a:rPr lang="en-US" sz="9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Dataset(train_df, label=</a:t>
            </a:r>
            <a:pPr indent="0" marL="0">
              <a:buNone/>
            </a:pPr>
            <a:r>
              <a:rPr lang="en-US" sz="900" dirty="0">
                <a:solidFill>
                  <a:srgbClr val="98C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'price'</a:t>
            </a:r>
            <a:pPr indent="0" marL="0">
              <a:buNone/>
            </a:pPr>
            <a:r>
              <a:rPr lang="en-US" sz="9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cat_features=[</a:t>
            </a:r>
            <a:pPr indent="0" marL="0">
              <a:buNone/>
            </a:pPr>
            <a:r>
              <a:rPr lang="en-US" sz="900" dirty="0">
                <a:solidFill>
                  <a:srgbClr val="98C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'segment'</a:t>
            </a:r>
            <a:pPr indent="0" marL="0">
              <a:buNone/>
            </a:pPr>
            <a:r>
              <a:rPr lang="en-US" sz="9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900" dirty="0">
                <a:solidFill>
                  <a:srgbClr val="98C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'category'</a:t>
            </a:r>
            <a:pPr indent="0" marL="0">
              <a:buNone/>
            </a:pPr>
            <a:r>
              <a:rPr lang="en-US" sz="9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
</a:t>
            </a:r>
            <a:pPr indent="0" marL="0">
              <a:buNone/>
            </a:pPr>
            <a:r>
              <a:rPr lang="en-US" sz="900" dirty="0">
                <a:solidFill>
                  <a:srgbClr val="E06C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test_ds</a:t>
            </a:r>
            <a:pPr indent="0" marL="0">
              <a:buNone/>
            </a:pPr>
            <a:r>
              <a:rPr lang="en-US" sz="9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= Dataset(test_df,  label=</a:t>
            </a:r>
            <a:pPr indent="0" marL="0">
              <a:buNone/>
            </a:pPr>
            <a:r>
              <a:rPr lang="en-US" sz="900" dirty="0">
                <a:solidFill>
                  <a:srgbClr val="98C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'price'</a:t>
            </a:r>
            <a:pPr indent="0" marL="0">
              <a:buNone/>
            </a:pPr>
            <a:r>
              <a:rPr lang="en-US" sz="9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cat_features=[</a:t>
            </a:r>
            <a:pPr indent="0" marL="0">
              <a:buNone/>
            </a:pPr>
            <a:r>
              <a:rPr lang="en-US" sz="900" dirty="0">
                <a:solidFill>
                  <a:srgbClr val="98C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'segment'</a:t>
            </a:r>
            <a:pPr indent="0" marL="0">
              <a:buNone/>
            </a:pPr>
            <a:r>
              <a:rPr lang="en-US" sz="9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900" dirty="0">
                <a:solidFill>
                  <a:srgbClr val="98C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'category'</a:t>
            </a:r>
            <a:pPr indent="0" marL="0">
              <a:buNone/>
            </a:pPr>
            <a:r>
              <a:rPr lang="en-US" sz="9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
</a:t>
            </a:r>
            <a:pPr indent="0" marL="0">
              <a:buNone/>
            </a:pPr>
            <a:r>
              <a:rPr lang="en-US" sz="900" i="1" dirty="0">
                <a:solidFill>
                  <a:srgbClr val="5C63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2. Utiliser un check standalone avec condition
</a:t>
            </a:r>
            <a:pPr indent="0" marL="0">
              <a:buNone/>
            </a:pPr>
            <a:r>
              <a:rPr lang="en-US" sz="900" dirty="0">
                <a:solidFill>
                  <a:srgbClr val="E06C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check</a:t>
            </a:r>
            <a:pPr indent="0" marL="0">
              <a:buNone/>
            </a:pPr>
            <a:r>
              <a:rPr lang="en-US" sz="9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PriceDriftCheck().add_condition_drift_score_less_than(</a:t>
            </a:r>
            <a:pPr indent="0" marL="0">
              <a:buNone/>
            </a:pPr>
            <a:r>
              <a:rPr lang="en-US" sz="900" dirty="0">
                <a:solidFill>
                  <a:srgbClr val="D19A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0.2</a:t>
            </a:r>
            <a:pPr indent="0" marL="0">
              <a:buNone/>
            </a:pPr>
            <a:r>
              <a:rPr lang="en-US" sz="9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
</a:t>
            </a:r>
            <a:pPr indent="0" marL="0">
              <a:buNone/>
            </a:pPr>
            <a:r>
              <a:rPr lang="en-US" sz="900" i="1" dirty="0">
                <a:solidFill>
                  <a:srgbClr val="5C63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3. Exécuter la suite complète
</a:t>
            </a:r>
            <a:pPr indent="0" marL="0">
              <a:buNone/>
            </a:pPr>
            <a:r>
              <a:rPr lang="en-US" sz="900" dirty="0">
                <a:solidFill>
                  <a:srgbClr val="E06C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suite</a:t>
            </a:r>
            <a:pPr indent="0" marL="0">
              <a:buNone/>
            </a:pPr>
            <a:r>
              <a:rPr lang="en-US" sz="9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= full_pricing_suite()
</a:t>
            </a:r>
            <a:pPr indent="0" marL="0">
              <a:buNone/>
            </a:pPr>
            <a:r>
              <a:rPr lang="en-US" sz="900" dirty="0">
                <a:solidFill>
                  <a:srgbClr val="E06C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</a:t>
            </a:r>
            <a:pPr indent="0" marL="0">
              <a:buNone/>
            </a:pPr>
            <a:r>
              <a:rPr lang="en-US" sz="9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suite.run(train_ds, test_ds, model=my_model)
</a:t>
            </a:r>
            <a:pPr indent="0" marL="0">
              <a:buNone/>
            </a:pPr>
            <a:r>
              <a:rPr lang="en-US" sz="900" i="1" dirty="0">
                <a:solidFill>
                  <a:srgbClr val="5C63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4. Sauvegarder le rapport
</a:t>
            </a:r>
            <a:pPr indent="0" marL="0">
              <a:buNone/>
            </a:pPr>
            <a:r>
              <a:rPr lang="en-US" sz="900" dirty="0">
                <a:solidFill>
                  <a:srgbClr val="E06C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</a:t>
            </a:r>
            <a:pPr indent="0" marL="0">
              <a:buNone/>
            </a:pPr>
            <a:r>
              <a:rPr lang="en-US" sz="9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.save_as_html(</a:t>
            </a:r>
            <a:pPr indent="0" marL="0">
              <a:buNone/>
            </a:pPr>
            <a:r>
              <a:rPr lang="en-US" sz="900" dirty="0">
                <a:solidFill>
                  <a:srgbClr val="98C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'pricing_report.html'</a:t>
            </a:r>
            <a:pPr indent="0" marL="0">
              <a:buNone/>
            </a:pPr>
            <a:r>
              <a:rPr lang="en-US" sz="9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 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897880" y="1371600"/>
            <a:ext cx="3017520" cy="3703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897880" y="1371600"/>
            <a:ext cx="3017520" cy="347472"/>
          </a:xfrm>
          <a:prstGeom prst="rect">
            <a:avLst/>
          </a:prstGeom>
          <a:solidFill>
            <a:srgbClr val="1B2A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897880" y="1371600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897880" y="1783080"/>
            <a:ext cx="3017520" cy="411480"/>
          </a:xfrm>
          <a:prstGeom prst="rect">
            <a:avLst/>
          </a:prstGeom>
          <a:solidFill>
            <a:srgbClr val="F4F7F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016752" y="178308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PriceDistribution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8001000" y="1783080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PASS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897880" y="2221992"/>
            <a:ext cx="301752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016752" y="2221992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CompetitorPriceGap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8001000" y="2221992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PASS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897880" y="2660904"/>
            <a:ext cx="3017520" cy="411480"/>
          </a:xfrm>
          <a:prstGeom prst="rect">
            <a:avLst/>
          </a:prstGeom>
          <a:solidFill>
            <a:srgbClr val="F4F7F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016752" y="2660904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MarginThreshold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8001000" y="2660904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PASS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897880" y="3099816"/>
            <a:ext cx="301752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016752" y="3099816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PriceDrift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8001000" y="3099816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WARN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897880" y="3538728"/>
            <a:ext cx="3017520" cy="411480"/>
          </a:xfrm>
          <a:prstGeom prst="rect">
            <a:avLst/>
          </a:prstGeom>
          <a:solidFill>
            <a:srgbClr val="F4F7F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016752" y="3538728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ElasticityCheck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8001000" y="3538728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 FAIL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897880" y="3977640"/>
            <a:ext cx="301752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016752" y="397764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SegmentEquity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8001000" y="3977640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PASS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5897880" y="4617720"/>
            <a:ext cx="3017520" cy="411480"/>
          </a:xfrm>
          <a:prstGeom prst="rect">
            <a:avLst/>
          </a:prstGeom>
          <a:solidFill>
            <a:srgbClr val="1B2A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897880" y="461772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PASS  •  1 FAIL  •  1 WARN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0" cy="685800"/>
          </a:xfrm>
          <a:prstGeom prst="rect">
            <a:avLst/>
          </a:prstGeom>
          <a:solidFill>
            <a:srgbClr val="00A99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0"/>
            <a:ext cx="640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Exemple d'Utilisation — Intégration CI/CD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228600" y="804672"/>
            <a:ext cx="1508760" cy="1325880"/>
          </a:xfrm>
          <a:prstGeom prst="rect">
            <a:avLst/>
          </a:prstGeom>
          <a:solidFill>
            <a:srgbClr val="1B2A4A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" y="896112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28600" y="1417320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 modèle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737360" y="1188720"/>
            <a:ext cx="201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4748B"/>
                </a:solidFill>
              </a:rPr>
              <a:t>→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1947672" y="804672"/>
            <a:ext cx="1508760" cy="1325880"/>
          </a:xfrm>
          <a:prstGeom prst="rect">
            <a:avLst/>
          </a:prstGeom>
          <a:solidFill>
            <a:srgbClr val="00A99D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8024" y="896112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947672" y="1417320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3456432" y="1188720"/>
            <a:ext cx="201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4748B"/>
                </a:solidFill>
              </a:rPr>
              <a:t>→</a:t>
            </a:r>
            <a:endParaRPr lang="en-US" sz="1800" dirty="0"/>
          </a:p>
        </p:txBody>
      </p:sp>
      <p:sp>
        <p:nvSpPr>
          <p:cNvPr id="14" name="Shape 10"/>
          <p:cNvSpPr/>
          <p:nvPr/>
        </p:nvSpPr>
        <p:spPr>
          <a:xfrm>
            <a:off x="3666744" y="804672"/>
            <a:ext cx="1508760" cy="1325880"/>
          </a:xfrm>
          <a:prstGeom prst="rect">
            <a:avLst/>
          </a:prstGeom>
          <a:solidFill>
            <a:srgbClr val="1B2A4A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7096" y="896112"/>
            <a:ext cx="457200" cy="4572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3666744" y="1417320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PricingChecks</a:t>
            </a:r>
            <a:endParaRPr lang="en-US" sz="1000" dirty="0"/>
          </a:p>
        </p:txBody>
      </p:sp>
      <p:sp>
        <p:nvSpPr>
          <p:cNvPr id="17" name="Text 12"/>
          <p:cNvSpPr/>
          <p:nvPr/>
        </p:nvSpPr>
        <p:spPr>
          <a:xfrm>
            <a:off x="5175504" y="1188720"/>
            <a:ext cx="201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4748B"/>
                </a:solidFill>
              </a:rPr>
              <a:t>→</a:t>
            </a:r>
            <a:endParaRPr lang="en-US" sz="1800" dirty="0"/>
          </a:p>
        </p:txBody>
      </p:sp>
      <p:sp>
        <p:nvSpPr>
          <p:cNvPr id="18" name="Shape 13"/>
          <p:cNvSpPr/>
          <p:nvPr/>
        </p:nvSpPr>
        <p:spPr>
          <a:xfrm>
            <a:off x="5385816" y="804672"/>
            <a:ext cx="1508760" cy="1325880"/>
          </a:xfrm>
          <a:prstGeom prst="rect">
            <a:avLst/>
          </a:prstGeom>
          <a:solidFill>
            <a:srgbClr val="00A99D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16168" y="896112"/>
            <a:ext cx="457200" cy="45720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5385816" y="1417320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Rapport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généré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6894576" y="1188720"/>
            <a:ext cx="201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4748B"/>
                </a:solidFill>
              </a:rPr>
              <a:t>→</a:t>
            </a:r>
            <a:endParaRPr lang="en-US" sz="1800" dirty="0"/>
          </a:p>
        </p:txBody>
      </p:sp>
      <p:sp>
        <p:nvSpPr>
          <p:cNvPr id="22" name="Shape 16"/>
          <p:cNvSpPr/>
          <p:nvPr/>
        </p:nvSpPr>
        <p:spPr>
          <a:xfrm>
            <a:off x="7104888" y="804672"/>
            <a:ext cx="1508760" cy="1325880"/>
          </a:xfrm>
          <a:prstGeom prst="rect">
            <a:avLst/>
          </a:prstGeom>
          <a:solidFill>
            <a:srgbClr val="1B2A4A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35240" y="896112"/>
            <a:ext cx="457200" cy="45720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104888" y="1417320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si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000" dirty="0"/>
          </a:p>
        </p:txBody>
      </p:sp>
      <p:sp>
        <p:nvSpPr>
          <p:cNvPr id="25" name="Shape 18"/>
          <p:cNvSpPr/>
          <p:nvPr/>
        </p:nvSpPr>
        <p:spPr>
          <a:xfrm>
            <a:off x="228600" y="2267712"/>
            <a:ext cx="5029200" cy="2834640"/>
          </a:xfrm>
          <a:prstGeom prst="rect">
            <a:avLst/>
          </a:prstGeom>
          <a:solidFill>
            <a:srgbClr val="1E203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Shape 19"/>
          <p:cNvSpPr/>
          <p:nvPr/>
        </p:nvSpPr>
        <p:spPr>
          <a:xfrm>
            <a:off x="228600" y="2267712"/>
            <a:ext cx="5029200" cy="274320"/>
          </a:xfrm>
          <a:prstGeom prst="rect">
            <a:avLst/>
          </a:prstGeom>
          <a:solidFill>
            <a:srgbClr val="2A2D3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0"/>
          <p:cNvSpPr/>
          <p:nvPr/>
        </p:nvSpPr>
        <p:spPr>
          <a:xfrm>
            <a:off x="347472" y="226771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● ●</a:t>
            </a:r>
            <a:endParaRPr lang="en-US" sz="800" dirty="0"/>
          </a:p>
        </p:txBody>
      </p:sp>
      <p:sp>
        <p:nvSpPr>
          <p:cNvPr id="28" name="Text 21"/>
          <p:cNvSpPr/>
          <p:nvPr/>
        </p:nvSpPr>
        <p:spPr>
          <a:xfrm>
            <a:off x="548640" y="226771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0AE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pricing-checks.yml</a:t>
            </a:r>
            <a:endParaRPr lang="en-US" sz="850" dirty="0"/>
          </a:p>
        </p:txBody>
      </p:sp>
      <p:sp>
        <p:nvSpPr>
          <p:cNvPr id="29" name="Text 22"/>
          <p:cNvSpPr/>
          <p:nvPr/>
        </p:nvSpPr>
        <p:spPr>
          <a:xfrm>
            <a:off x="365760" y="2578608"/>
            <a:ext cx="4754880" cy="2450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5C63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.github/workflows/pricing-checks.yml
</a:t>
            </a:r>
            <a:pPr indent="0" marL="0">
              <a:buNone/>
            </a:pPr>
            <a:r>
              <a:rPr lang="en-US" sz="850" dirty="0">
                <a:solidFill>
                  <a:srgbClr val="E06C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pPr indent="0" marL="0">
              <a:buNone/>
            </a:pPr>
            <a:r>
              <a:rPr lang="en-US" sz="85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PricingChecks CI
</a:t>
            </a:r>
            <a:pPr indent="0" marL="0">
              <a:buNone/>
            </a:pPr>
            <a:r>
              <a:rPr lang="en-US" sz="850" dirty="0">
                <a:solidFill>
                  <a:srgbClr val="E06C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</a:t>
            </a:r>
            <a:pPr indent="0" marL="0">
              <a:buNone/>
            </a:pPr>
            <a:r>
              <a:rPr lang="en-US" sz="85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[push, pull_request]
</a:t>
            </a:r>
            <a:pPr indent="0" marL="0">
              <a:buNone/>
            </a:pPr>
            <a:r>
              <a:rPr lang="en-US" sz="850" dirty="0">
                <a:solidFill>
                  <a:srgbClr val="E06C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jobs</a:t>
            </a:r>
            <a:pPr indent="0" marL="0">
              <a:buNone/>
            </a:pPr>
            <a:r>
              <a:rPr lang="en-US" sz="85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98C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pricing-validation</a:t>
            </a:r>
            <a:pPr indent="0" marL="0">
              <a:buNone/>
            </a:pPr>
            <a:r>
              <a:rPr lang="en-US" sz="85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06C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runs-on</a:t>
            </a:r>
            <a:pPr indent="0" marL="0">
              <a:buNone/>
            </a:pPr>
            <a:r>
              <a:rPr lang="en-US" sz="85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ubuntu-latest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06C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steps</a:t>
            </a:r>
            <a:pPr indent="0" marL="0">
              <a:buNone/>
            </a:pPr>
            <a:r>
              <a:rPr lang="en-US" sz="85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
</a:t>
            </a:r>
            <a:pPr indent="0" marL="0">
              <a:buNone/>
            </a:pPr>
            <a:r>
              <a:rPr lang="en-US" sz="850" dirty="0">
                <a:solidFill>
                  <a:srgbClr val="E06C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 uses</a:t>
            </a:r>
            <a:pPr indent="0" marL="0">
              <a:buNone/>
            </a:pPr>
            <a:r>
              <a:rPr lang="en-US" sz="85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actions/checkout@v3
</a:t>
            </a:r>
            <a:pPr indent="0" marL="0">
              <a:buNone/>
            </a:pPr>
            <a:r>
              <a:rPr lang="en-US" sz="850" dirty="0">
                <a:solidFill>
                  <a:srgbClr val="E06C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 name</a:t>
            </a:r>
            <a:pPr indent="0" marL="0">
              <a:buNone/>
            </a:pPr>
            <a:r>
              <a:rPr lang="en-US" sz="85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Install PricingChecks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06C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</a:t>
            </a:r>
            <a:pPr indent="0" marL="0">
              <a:buNone/>
            </a:pPr>
            <a:r>
              <a:rPr lang="en-US" sz="850" dirty="0">
                <a:solidFill>
                  <a:srgbClr val="98C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pip install pricing-checks
</a:t>
            </a:r>
            <a:pPr indent="0" marL="0">
              <a:buNone/>
            </a:pPr>
            <a:r>
              <a:rPr lang="en-US" sz="850" dirty="0">
                <a:solidFill>
                  <a:srgbClr val="E06C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 name</a:t>
            </a:r>
            <a:pPr indent="0" marL="0">
              <a:buNone/>
            </a:pPr>
            <a:r>
              <a:rPr lang="en-US" sz="85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Run validation suite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06C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</a:t>
            </a:r>
            <a:pPr indent="0" marL="0">
              <a:buNone/>
            </a:pPr>
            <a:r>
              <a:rPr lang="en-US" sz="850" dirty="0">
                <a:solidFill>
                  <a:srgbClr val="98C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python run_checks.py
</a:t>
            </a:r>
            <a:pPr indent="0" marL="0">
              <a:buNone/>
            </a:pPr>
            <a:r>
              <a:rPr lang="en-US" sz="850" dirty="0">
                <a:solidFill>
                  <a:srgbClr val="E06C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 name</a:t>
            </a:r>
            <a:pPr indent="0" marL="0">
              <a:buNone/>
            </a:pPr>
            <a:r>
              <a:rPr lang="en-US" sz="85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Upload HTML report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06C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uses</a:t>
            </a:r>
            <a:pPr indent="0" marL="0">
              <a:buNone/>
            </a:pPr>
            <a:r>
              <a:rPr lang="en-US" sz="85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actions/upload-artifact@v3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06C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</a:t>
            </a:r>
            <a:pPr indent="0" marL="0">
              <a:buNone/>
            </a:pPr>
            <a:r>
              <a:rPr lang="en-US" sz="85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06C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path</a:t>
            </a:r>
            <a:pPr indent="0" marL="0">
              <a:buNone/>
            </a:pPr>
            <a:r>
              <a:rPr lang="en-US" sz="850" dirty="0">
                <a:solidFill>
                  <a:srgbClr val="98C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pricing_report.html</a:t>
            </a:r>
            <a:endParaRPr lang="en-US" sz="850" dirty="0"/>
          </a:p>
        </p:txBody>
      </p:sp>
      <p:sp>
        <p:nvSpPr>
          <p:cNvPr id="30" name="Shape 23"/>
          <p:cNvSpPr/>
          <p:nvPr/>
        </p:nvSpPr>
        <p:spPr>
          <a:xfrm>
            <a:off x="5440680" y="2267712"/>
            <a:ext cx="3474720" cy="850392"/>
          </a:xfrm>
          <a:prstGeom prst="rect">
            <a:avLst/>
          </a:prstGeom>
          <a:solidFill>
            <a:srgbClr val="1E3A5F"/>
          </a:solidFill>
          <a:ln w="6350">
            <a:solidFill>
              <a:srgbClr val="00A99D"/>
            </a:solidFill>
            <a:prstDash val="solid"/>
          </a:ln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77840" y="2450592"/>
            <a:ext cx="365760" cy="36576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6080760" y="233172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A9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automatique</a:t>
            </a:r>
            <a:endParaRPr lang="en-US" sz="1100" dirty="0"/>
          </a:p>
        </p:txBody>
      </p:sp>
      <p:sp>
        <p:nvSpPr>
          <p:cNvPr id="33" name="Text 25"/>
          <p:cNvSpPr/>
          <p:nvPr/>
        </p:nvSpPr>
        <p:spPr>
          <a:xfrm>
            <a:off x="6080760" y="2679192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push déclenche les checks — aucun oubli possible.</a:t>
            </a:r>
            <a:endParaRPr lang="en-US" sz="950" dirty="0"/>
          </a:p>
        </p:txBody>
      </p:sp>
      <p:sp>
        <p:nvSpPr>
          <p:cNvPr id="34" name="Shape 26"/>
          <p:cNvSpPr/>
          <p:nvPr/>
        </p:nvSpPr>
        <p:spPr>
          <a:xfrm>
            <a:off x="5440680" y="3209544"/>
            <a:ext cx="3474720" cy="850392"/>
          </a:xfrm>
          <a:prstGeom prst="rect">
            <a:avLst/>
          </a:prstGeom>
          <a:solidFill>
            <a:srgbClr val="1B2A4A"/>
          </a:solidFill>
          <a:ln w="6350">
            <a:solidFill>
              <a:srgbClr val="00A99D"/>
            </a:solidFill>
            <a:prstDash val="solid"/>
          </a:ln>
        </p:spPr>
      </p:sp>
      <p:pic>
        <p:nvPicPr>
          <p:cNvPr id="3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77840" y="3392424"/>
            <a:ext cx="365760" cy="365760"/>
          </a:xfrm>
          <a:prstGeom prst="rect">
            <a:avLst/>
          </a:prstGeom>
        </p:spPr>
      </p:pic>
      <p:sp>
        <p:nvSpPr>
          <p:cNvPr id="36" name="Text 27"/>
          <p:cNvSpPr/>
          <p:nvPr/>
        </p:nvSpPr>
        <p:spPr>
          <a:xfrm>
            <a:off x="6080760" y="3273552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A9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Rapport archivé</a:t>
            </a:r>
            <a:endParaRPr lang="en-US" sz="1100" dirty="0"/>
          </a:p>
        </p:txBody>
      </p:sp>
      <p:sp>
        <p:nvSpPr>
          <p:cNvPr id="37" name="Text 28"/>
          <p:cNvSpPr/>
          <p:nvPr/>
        </p:nvSpPr>
        <p:spPr>
          <a:xfrm>
            <a:off x="6080760" y="3621024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rapport HTML est conservé comme artifact du CI.</a:t>
            </a:r>
            <a:endParaRPr lang="en-US" sz="950" dirty="0"/>
          </a:p>
        </p:txBody>
      </p:sp>
      <p:sp>
        <p:nvSpPr>
          <p:cNvPr id="38" name="Shape 29"/>
          <p:cNvSpPr/>
          <p:nvPr/>
        </p:nvSpPr>
        <p:spPr>
          <a:xfrm>
            <a:off x="5440680" y="4151376"/>
            <a:ext cx="3474720" cy="850392"/>
          </a:xfrm>
          <a:prstGeom prst="rect">
            <a:avLst/>
          </a:prstGeom>
          <a:solidFill>
            <a:srgbClr val="1E3A5F"/>
          </a:solidFill>
          <a:ln w="6350">
            <a:solidFill>
              <a:srgbClr val="00A99D"/>
            </a:solidFill>
            <a:prstDash val="solid"/>
          </a:ln>
        </p:spPr>
      </p:sp>
      <p:pic>
        <p:nvPicPr>
          <p:cNvPr id="3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577840" y="4334256"/>
            <a:ext cx="365760" cy="365760"/>
          </a:xfrm>
          <a:prstGeom prst="rect">
            <a:avLst/>
          </a:prstGeom>
        </p:spPr>
      </p:pic>
      <p:sp>
        <p:nvSpPr>
          <p:cNvPr id="40" name="Text 30"/>
          <p:cNvSpPr/>
          <p:nvPr/>
        </p:nvSpPr>
        <p:spPr>
          <a:xfrm>
            <a:off x="6080760" y="4215384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A9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Blocage si FAIL</a:t>
            </a:r>
            <a:endParaRPr lang="en-US" sz="1100" dirty="0"/>
          </a:p>
        </p:txBody>
      </p:sp>
      <p:sp>
        <p:nvSpPr>
          <p:cNvPr id="41" name="Text 31"/>
          <p:cNvSpPr/>
          <p:nvPr/>
        </p:nvSpPr>
        <p:spPr>
          <a:xfrm>
            <a:off x="6080760" y="4562856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pipeline s'arrête si un check critique échoue.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0" cy="685800"/>
          </a:xfrm>
          <a:prstGeom prst="rect">
            <a:avLst/>
          </a:prstGeom>
          <a:solidFill>
            <a:srgbClr val="00A99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0"/>
            <a:ext cx="640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&amp; Contribution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274320" y="960120"/>
            <a:ext cx="320040" cy="320040"/>
          </a:xfrm>
          <a:prstGeom prst="oval">
            <a:avLst/>
          </a:prstGeom>
          <a:solidFill>
            <a:srgbClr val="00A99D"/>
          </a:solidFill>
          <a:ln w="12700">
            <a:solidFill>
              <a:srgbClr val="007F7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29768" y="1280160"/>
            <a:ext cx="18288" cy="1051560"/>
          </a:xfrm>
          <a:prstGeom prst="rect">
            <a:avLst/>
          </a:prstGeom>
          <a:solidFill>
            <a:srgbClr val="E2E8F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04672" y="850392"/>
            <a:ext cx="3840480" cy="1188720"/>
          </a:xfrm>
          <a:prstGeom prst="rect">
            <a:avLst/>
          </a:prstGeom>
          <a:solidFill>
            <a:srgbClr val="CBD5E1">
              <a:alpha val="5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822960"/>
            <a:ext cx="384048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" y="822960"/>
            <a:ext cx="54864" cy="1188720"/>
          </a:xfrm>
          <a:prstGeom prst="rect">
            <a:avLst/>
          </a:prstGeom>
          <a:solidFill>
            <a:srgbClr val="00A99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86968" y="896112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A9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v1.0 — Actuel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86968" y="1261872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6 checks core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86968" y="1463040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3 suites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86968" y="1664208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Rapport HTML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86968" y="1865376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Intégration CI basique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" y="2331720"/>
            <a:ext cx="320040" cy="320040"/>
          </a:xfrm>
          <a:prstGeom prst="oval">
            <a:avLst/>
          </a:prstGeom>
          <a:solidFill>
            <a:srgbClr val="E2E8F0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29768" y="2651760"/>
            <a:ext cx="18288" cy="1051560"/>
          </a:xfrm>
          <a:prstGeom prst="rect">
            <a:avLst/>
          </a:prstGeom>
          <a:solidFill>
            <a:srgbClr val="E2E8F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04672" y="2221992"/>
            <a:ext cx="3840480" cy="1188720"/>
          </a:xfrm>
          <a:prstGeom prst="rect">
            <a:avLst/>
          </a:prstGeom>
          <a:solidFill>
            <a:srgbClr val="CBD5E1">
              <a:alpha val="5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77240" y="2194560"/>
            <a:ext cx="384048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2194560"/>
            <a:ext cx="54864" cy="1188720"/>
          </a:xfrm>
          <a:prstGeom prst="rect">
            <a:avLst/>
          </a:prstGeom>
          <a:solidFill>
            <a:srgbClr val="1B2A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86968" y="2267712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v1.1 — Q3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86968" y="2633472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Check NLP descriptions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86968" y="2834640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Intégration MLflow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86968" y="3035808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Dashboard Streamlit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86968" y="3236976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Alertes Slack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74320" y="3703320"/>
            <a:ext cx="320040" cy="320040"/>
          </a:xfrm>
          <a:prstGeom prst="oval">
            <a:avLst/>
          </a:prstGeom>
          <a:solidFill>
            <a:srgbClr val="E2E8F0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04672" y="3593592"/>
            <a:ext cx="3840480" cy="1188720"/>
          </a:xfrm>
          <a:prstGeom prst="rect">
            <a:avLst/>
          </a:prstGeom>
          <a:solidFill>
            <a:srgbClr val="CBD5E1">
              <a:alpha val="5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77240" y="3566160"/>
            <a:ext cx="384048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77240" y="3566160"/>
            <a:ext cx="54864" cy="1188720"/>
          </a:xfrm>
          <a:prstGeom prst="rect">
            <a:avLst/>
          </a:prstGeom>
          <a:solidFill>
            <a:srgbClr val="64748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86968" y="3639312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v2.0 — Q4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86968" y="4005072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Checks en temps réel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886968" y="4206240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API REST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886968" y="4407408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Support multi-projets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886968" y="4608576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Auto-tuning seuils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919472" y="850392"/>
            <a:ext cx="4023360" cy="4251960"/>
          </a:xfrm>
          <a:prstGeom prst="rect">
            <a:avLst/>
          </a:prstGeom>
          <a:solidFill>
            <a:srgbClr val="CBD5E1">
              <a:alpha val="5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892040" y="822960"/>
            <a:ext cx="4023360" cy="4251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892040" y="822960"/>
            <a:ext cx="4023360" cy="411480"/>
          </a:xfrm>
          <a:prstGeom prst="rect">
            <a:avLst/>
          </a:prstGeom>
          <a:solidFill>
            <a:srgbClr val="00A99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92040" y="82296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Contribuer ?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5010912" y="1417320"/>
            <a:ext cx="320040" cy="320040"/>
          </a:xfrm>
          <a:prstGeom prst="oval">
            <a:avLst/>
          </a:prstGeom>
          <a:solidFill>
            <a:srgbClr val="00A99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010912" y="14173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440680" y="1399032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Créer un nouveau check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440680" y="1709928"/>
            <a:ext cx="3337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Hériter de SingleDatasetCheck ou TrainTestCheck, implémenter compute() et ajouter dans __init__.py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5010912" y="2331720"/>
            <a:ext cx="320040" cy="320040"/>
          </a:xfrm>
          <a:prstGeom prst="oval">
            <a:avLst/>
          </a:prstGeom>
          <a:solidFill>
            <a:srgbClr val="00A99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010912" y="23317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5440680" y="2313432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Ajouter une condition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5440680" y="2624328"/>
            <a:ext cx="3337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Utiliser add_condition() sur un check existant pour définir un nouveau seuil métier.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5010912" y="3246120"/>
            <a:ext cx="320040" cy="320040"/>
          </a:xfrm>
          <a:prstGeom prst="oval">
            <a:avLst/>
          </a:prstGeom>
          <a:solidFill>
            <a:srgbClr val="00A99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010912" y="32461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5440680" y="3227832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Écrire les tests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5440680" y="3538728"/>
            <a:ext cx="3337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Couvrir chaque check avec pytest. Les tests doivent passer avant tout merge.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5010912" y="4160520"/>
            <a:ext cx="320040" cy="320040"/>
          </a:xfrm>
          <a:prstGeom prst="oval">
            <a:avLst/>
          </a:prstGeom>
          <a:solidFill>
            <a:srgbClr val="00A99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010912" y="41605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5440680" y="4142232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Ouvrir une Pull Request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5440680" y="4453128"/>
            <a:ext cx="3337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Fork → branche feature/ → PR avec description du check et exemple d'utilisation.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A99D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55448"/>
            <a:ext cx="685800" cy="685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155448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Résumé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228600" y="1143000"/>
            <a:ext cx="4206240" cy="1508760"/>
          </a:xfrm>
          <a:prstGeom prst="rect">
            <a:avLst/>
          </a:prstGeom>
          <a:solidFill>
            <a:srgbClr val="1E3A5F"/>
          </a:solidFill>
          <a:ln w="12700">
            <a:solidFill>
              <a:srgbClr val="00A99D"/>
            </a:solidFill>
            <a:prstDash val="solid"/>
          </a:ln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192" y="1307592"/>
            <a:ext cx="457200" cy="4572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78408" y="128016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9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Problème réel résolu</a:t>
            </a:r>
            <a:endParaRPr lang="en-US" sz="1300" dirty="0"/>
          </a:p>
        </p:txBody>
      </p:sp>
      <p:sp>
        <p:nvSpPr>
          <p:cNvPr id="8" name="Text 4"/>
          <p:cNvSpPr/>
          <p:nvPr/>
        </p:nvSpPr>
        <p:spPr>
          <a:xfrm>
            <a:off x="393192" y="1828800"/>
            <a:ext cx="3886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 des validations ad-hoc — un seul package versionné pour toute l'équipe Pricing.</a:t>
            </a:r>
            <a:endParaRPr lang="en-US" sz="1050" dirty="0"/>
          </a:p>
        </p:txBody>
      </p:sp>
      <p:sp>
        <p:nvSpPr>
          <p:cNvPr id="9" name="Shape 5"/>
          <p:cNvSpPr/>
          <p:nvPr/>
        </p:nvSpPr>
        <p:spPr>
          <a:xfrm>
            <a:off x="4663440" y="1143000"/>
            <a:ext cx="4206240" cy="1508760"/>
          </a:xfrm>
          <a:prstGeom prst="rect">
            <a:avLst/>
          </a:prstGeom>
          <a:solidFill>
            <a:srgbClr val="1E3A5F"/>
          </a:solidFill>
          <a:ln w="12700">
            <a:solidFill>
              <a:srgbClr val="00A99D"/>
            </a:solidFill>
            <a:prstDash val="solid"/>
          </a:ln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8032" y="1307592"/>
            <a:ext cx="457200" cy="4572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5413248" y="128016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9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Basé sur Deepchecks</a:t>
            </a:r>
            <a:endParaRPr lang="en-US" sz="1300" dirty="0"/>
          </a:p>
        </p:txBody>
      </p:sp>
      <p:sp>
        <p:nvSpPr>
          <p:cNvPr id="12" name="Text 7"/>
          <p:cNvSpPr/>
          <p:nvPr/>
        </p:nvSpPr>
        <p:spPr>
          <a:xfrm>
            <a:off x="4828032" y="1828800"/>
            <a:ext cx="3886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éprouvée, extensible, avec rapports HTML interactifs intégrés.</a:t>
            </a:r>
            <a:endParaRPr lang="en-US" sz="1050" dirty="0"/>
          </a:p>
        </p:txBody>
      </p:sp>
      <p:sp>
        <p:nvSpPr>
          <p:cNvPr id="13" name="Shape 8"/>
          <p:cNvSpPr/>
          <p:nvPr/>
        </p:nvSpPr>
        <p:spPr>
          <a:xfrm>
            <a:off x="228600" y="2834640"/>
            <a:ext cx="4206240" cy="1508760"/>
          </a:xfrm>
          <a:prstGeom prst="rect">
            <a:avLst/>
          </a:prstGeom>
          <a:solidFill>
            <a:srgbClr val="1E3A5F"/>
          </a:solidFill>
          <a:ln w="12700">
            <a:solidFill>
              <a:srgbClr val="00A99D"/>
            </a:solidFill>
            <a:prstDash val="solid"/>
          </a:ln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3192" y="2999232"/>
            <a:ext cx="457200" cy="45720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978408" y="297180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9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checks + 3 suites</a:t>
            </a:r>
            <a:endParaRPr lang="en-US" sz="1300" dirty="0"/>
          </a:p>
        </p:txBody>
      </p:sp>
      <p:sp>
        <p:nvSpPr>
          <p:cNvPr id="16" name="Text 10"/>
          <p:cNvSpPr/>
          <p:nvPr/>
        </p:nvSpPr>
        <p:spPr>
          <a:xfrm>
            <a:off x="393192" y="3520440"/>
            <a:ext cx="3886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Couverture complète : qualité données, performance modèle, règles métier.</a:t>
            </a:r>
            <a:endParaRPr lang="en-US" sz="1050" dirty="0"/>
          </a:p>
        </p:txBody>
      </p:sp>
      <p:sp>
        <p:nvSpPr>
          <p:cNvPr id="17" name="Shape 11"/>
          <p:cNvSpPr/>
          <p:nvPr/>
        </p:nvSpPr>
        <p:spPr>
          <a:xfrm>
            <a:off x="4663440" y="2834640"/>
            <a:ext cx="4206240" cy="1508760"/>
          </a:xfrm>
          <a:prstGeom prst="rect">
            <a:avLst/>
          </a:prstGeom>
          <a:solidFill>
            <a:srgbClr val="1E3A5F"/>
          </a:solidFill>
          <a:ln w="12700">
            <a:solidFill>
              <a:srgbClr val="00A99D"/>
            </a:solidFill>
            <a:prstDash val="solid"/>
          </a:ln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28032" y="2999232"/>
            <a:ext cx="457200" cy="45720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5413248" y="297180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9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Prêt pour la production</a:t>
            </a:r>
            <a:endParaRPr lang="en-US" sz="1300" dirty="0"/>
          </a:p>
        </p:txBody>
      </p:sp>
      <p:sp>
        <p:nvSpPr>
          <p:cNvPr id="20" name="Text 13"/>
          <p:cNvSpPr/>
          <p:nvPr/>
        </p:nvSpPr>
        <p:spPr>
          <a:xfrm>
            <a:off x="4828032" y="3520440"/>
            <a:ext cx="3886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 install, CI/CD GitHub Actions, rapport HTML — opérationnel en 5 minutes.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PricingChecks — Présentation Détaillée</dc:title>
  <dc:subject>PptxGenJS Presentation</dc:subject>
  <dc:creator>PptxGenJS</dc:creator>
  <cp:lastModifiedBy>PptxGenJS</cp:lastModifiedBy>
  <cp:revision>1</cp:revision>
  <dcterms:created xsi:type="dcterms:W3CDTF">2026-05-11T16:49:37Z</dcterms:created>
  <dcterms:modified xsi:type="dcterms:W3CDTF">2026-05-11T16:49:37Z</dcterms:modified>
</cp:coreProperties>
</file>